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</p:sldMasterIdLst>
  <p:notesMasterIdLst>
    <p:notesMasterId r:id="rId21"/>
  </p:notesMasterIdLst>
  <p:handoutMasterIdLst>
    <p:handoutMasterId r:id="rId22"/>
  </p:handoutMasterIdLst>
  <p:sldIdLst>
    <p:sldId id="437" r:id="rId3"/>
    <p:sldId id="439" r:id="rId4"/>
    <p:sldId id="262" r:id="rId5"/>
    <p:sldId id="263" r:id="rId6"/>
    <p:sldId id="264" r:id="rId7"/>
    <p:sldId id="266" r:id="rId8"/>
    <p:sldId id="440" r:id="rId9"/>
    <p:sldId id="271" r:id="rId10"/>
    <p:sldId id="447" r:id="rId11"/>
    <p:sldId id="467" r:id="rId12"/>
    <p:sldId id="469" r:id="rId13"/>
    <p:sldId id="450" r:id="rId14"/>
    <p:sldId id="470" r:id="rId15"/>
    <p:sldId id="441" r:id="rId16"/>
    <p:sldId id="442" r:id="rId17"/>
    <p:sldId id="461" r:id="rId18"/>
    <p:sldId id="462" r:id="rId19"/>
    <p:sldId id="463" r:id="rId20"/>
  </p:sldIdLst>
  <p:sldSz cx="9144000" cy="6858000" type="screen4x3"/>
  <p:notesSz cx="6669088" cy="992822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0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9D1"/>
    <a:srgbClr val="0000FF"/>
    <a:srgbClr val="99FF66"/>
    <a:srgbClr val="ACC7C0"/>
    <a:srgbClr val="0B72B5"/>
    <a:srgbClr val="008A9E"/>
    <a:srgbClr val="00447A"/>
    <a:srgbClr val="F8B334"/>
    <a:srgbClr val="496154"/>
    <a:srgbClr val="F08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Style léger 1 - Accentuation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6D9F66E-5EB9-4882-86FB-DCBF35E3C3E4}" styleName="Style moyen 4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9636" autoAdjust="0"/>
  </p:normalViewPr>
  <p:slideViewPr>
    <p:cSldViewPr>
      <p:cViewPr varScale="1">
        <p:scale>
          <a:sx n="55" d="100"/>
          <a:sy n="55" d="100"/>
        </p:scale>
        <p:origin x="1600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0" d="100"/>
          <a:sy n="80" d="100"/>
        </p:scale>
        <p:origin x="3966" y="102"/>
      </p:cViewPr>
      <p:guideLst>
        <p:guide orient="horz" pos="3127"/>
        <p:guide pos="210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889727" cy="496331"/>
          </a:xfrm>
          <a:prstGeom prst="rect">
            <a:avLst/>
          </a:prstGeom>
        </p:spPr>
        <p:txBody>
          <a:bodyPr vert="horz" lIns="91652" tIns="45826" rIns="91652" bIns="45826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777785" y="1"/>
            <a:ext cx="2889727" cy="496331"/>
          </a:xfrm>
          <a:prstGeom prst="rect">
            <a:avLst/>
          </a:prstGeom>
        </p:spPr>
        <p:txBody>
          <a:bodyPr vert="horz" lIns="91652" tIns="45826" rIns="91652" bIns="45826" rtlCol="0"/>
          <a:lstStyle>
            <a:lvl1pPr algn="r">
              <a:defRPr sz="1200"/>
            </a:lvl1pPr>
          </a:lstStyle>
          <a:p>
            <a:pPr>
              <a:defRPr/>
            </a:pPr>
            <a:fld id="{32FBC653-C878-4146-A3B7-EFF8B2BEDC98}" type="datetimeFigureOut">
              <a:rPr lang="fr-FR"/>
              <a:pPr>
                <a:defRPr/>
              </a:pPr>
              <a:t>27/04/2020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2" y="9430292"/>
            <a:ext cx="2889727" cy="496331"/>
          </a:xfrm>
          <a:prstGeom prst="rect">
            <a:avLst/>
          </a:prstGeom>
        </p:spPr>
        <p:txBody>
          <a:bodyPr vert="horz" lIns="91652" tIns="45826" rIns="91652" bIns="45826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777785" y="9430292"/>
            <a:ext cx="2889727" cy="496331"/>
          </a:xfrm>
          <a:prstGeom prst="rect">
            <a:avLst/>
          </a:prstGeom>
        </p:spPr>
        <p:txBody>
          <a:bodyPr vert="horz" lIns="91652" tIns="45826" rIns="91652" bIns="45826" rtlCol="0" anchor="b"/>
          <a:lstStyle>
            <a:lvl1pPr algn="r">
              <a:defRPr sz="1200"/>
            </a:lvl1pPr>
          </a:lstStyle>
          <a:p>
            <a:pPr>
              <a:defRPr/>
            </a:pPr>
            <a:fld id="{3BC6E436-6255-4D07-99AB-4F6FE0A4356F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87166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889727" cy="496331"/>
          </a:xfrm>
          <a:prstGeom prst="rect">
            <a:avLst/>
          </a:prstGeom>
        </p:spPr>
        <p:txBody>
          <a:bodyPr vert="horz" lIns="91652" tIns="45826" rIns="91652" bIns="45826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777785" y="1"/>
            <a:ext cx="2889727" cy="496331"/>
          </a:xfrm>
          <a:prstGeom prst="rect">
            <a:avLst/>
          </a:prstGeom>
        </p:spPr>
        <p:txBody>
          <a:bodyPr vert="horz" lIns="91652" tIns="45826" rIns="91652" bIns="45826" rtlCol="0"/>
          <a:lstStyle>
            <a:lvl1pPr algn="r">
              <a:defRPr sz="1200"/>
            </a:lvl1pPr>
          </a:lstStyle>
          <a:p>
            <a:pPr>
              <a:defRPr/>
            </a:pPr>
            <a:fld id="{2D732C8D-7481-4675-8925-5BF535610C02}" type="datetimeFigureOut">
              <a:rPr lang="fr-FR"/>
              <a:pPr>
                <a:defRPr/>
              </a:pPr>
              <a:t>27/04/2020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652" tIns="45826" rIns="91652" bIns="45826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67225" y="4715148"/>
            <a:ext cx="5334639" cy="4468581"/>
          </a:xfrm>
          <a:prstGeom prst="rect">
            <a:avLst/>
          </a:prstGeom>
        </p:spPr>
        <p:txBody>
          <a:bodyPr vert="horz" lIns="91652" tIns="45826" rIns="91652" bIns="45826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2" y="9430292"/>
            <a:ext cx="2889727" cy="496331"/>
          </a:xfrm>
          <a:prstGeom prst="rect">
            <a:avLst/>
          </a:prstGeom>
        </p:spPr>
        <p:txBody>
          <a:bodyPr vert="horz" lIns="91652" tIns="45826" rIns="91652" bIns="45826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777785" y="9430292"/>
            <a:ext cx="2889727" cy="496331"/>
          </a:xfrm>
          <a:prstGeom prst="rect">
            <a:avLst/>
          </a:prstGeom>
        </p:spPr>
        <p:txBody>
          <a:bodyPr vert="horz" lIns="91652" tIns="45826" rIns="91652" bIns="45826" rtlCol="0" anchor="b"/>
          <a:lstStyle>
            <a:lvl1pPr algn="r">
              <a:defRPr sz="1200"/>
            </a:lvl1pPr>
          </a:lstStyle>
          <a:p>
            <a:pPr>
              <a:defRPr/>
            </a:pPr>
            <a:fld id="{A9B059E1-27FA-49AA-A69B-E744AC8A4ACC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40395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B059E1-27FA-49AA-A69B-E744AC8A4ACC}" type="slidenum">
              <a:rPr lang="fr-FR" smtClean="0"/>
              <a:pPr>
                <a:defRPr/>
              </a:pPr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17772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B059E1-27FA-49AA-A69B-E744AC8A4ACC}" type="slidenum">
              <a:rPr lang="fr-FR" smtClean="0"/>
              <a:pPr>
                <a:defRPr/>
              </a:pPr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07417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u="sng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B059E1-27FA-49AA-A69B-E744AC8A4ACC}" type="slidenum">
              <a:rPr lang="fr-FR" smtClean="0"/>
              <a:pPr>
                <a:defRPr/>
              </a:pPr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03308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667225" y="4715148"/>
            <a:ext cx="5691655" cy="5073500"/>
          </a:xfrm>
        </p:spPr>
        <p:txBody>
          <a:bodyPr>
            <a:normAutofit/>
          </a:bodyPr>
          <a:lstStyle/>
          <a:p>
            <a:endParaRPr lang="fr-FR" sz="10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B059E1-27FA-49AA-A69B-E744AC8A4ACC}" type="slidenum">
              <a:rPr lang="fr-FR" smtClean="0"/>
              <a:pPr>
                <a:defRPr/>
              </a:pPr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24627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382217" y="4715148"/>
            <a:ext cx="6048672" cy="4929484"/>
          </a:xfrm>
        </p:spPr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B059E1-27FA-49AA-A69B-E744AC8A4ACC}" type="slidenum">
              <a:rPr lang="fr-FR" smtClean="0"/>
              <a:pPr>
                <a:defRPr/>
              </a:pPr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91956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0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B059E1-27FA-49AA-A69B-E744AC8A4ACC}" type="slidenum">
              <a:rPr lang="fr-FR" smtClean="0"/>
              <a:pPr>
                <a:defRPr/>
              </a:pPr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33698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B059E1-27FA-49AA-A69B-E744AC8A4ACC}" type="slidenum">
              <a:rPr lang="fr-FR" smtClean="0"/>
              <a:pPr>
                <a:defRPr/>
              </a:pPr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70771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41555243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41721279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4545273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7874774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25561722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B059E1-27FA-49AA-A69B-E744AC8A4ACC}" type="slidenum">
              <a:rPr lang="fr-FR" smtClean="0"/>
              <a:pPr>
                <a:defRPr/>
              </a:pPr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2303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ChangeArrowheads="1"/>
          </p:cNvSpPr>
          <p:nvPr userDrawn="1"/>
        </p:nvSpPr>
        <p:spPr bwMode="auto">
          <a:xfrm flipV="1">
            <a:off x="0" y="2852738"/>
            <a:ext cx="9144000" cy="3240087"/>
          </a:xfrm>
          <a:prstGeom prst="rect">
            <a:avLst/>
          </a:prstGeom>
          <a:solidFill>
            <a:srgbClr val="0B72B5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fr-FR">
              <a:solidFill>
                <a:srgbClr val="F08A00"/>
              </a:solidFill>
            </a:endParaRPr>
          </a:p>
        </p:txBody>
      </p:sp>
      <p:pic>
        <p:nvPicPr>
          <p:cNvPr id="5" name="Image 7" descr="AudenciaNantes_CMJN_Centre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4075" y="133350"/>
            <a:ext cx="4751388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 userDrawn="1"/>
        </p:nvSpPr>
        <p:spPr>
          <a:xfrm>
            <a:off x="6156325" y="5661025"/>
            <a:ext cx="2987675" cy="2889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/>
          </a:p>
        </p:txBody>
      </p:sp>
      <p:pic>
        <p:nvPicPr>
          <p:cNvPr id="7" name="Image 8" descr="AudenciaNantes_Bleu_Centre.wmf"/>
          <p:cNvPicPr>
            <a:picLocks noChangeAspect="1"/>
          </p:cNvPicPr>
          <p:nvPr userDrawn="1"/>
        </p:nvPicPr>
        <p:blipFill>
          <a:blip r:embed="rId3" cstate="print">
            <a:lum bright="10000"/>
          </a:blip>
          <a:srcRect l="47279" t="4312" r="30017" b="45377"/>
          <a:stretch>
            <a:fillRect/>
          </a:stretch>
        </p:blipFill>
        <p:spPr bwMode="auto">
          <a:xfrm>
            <a:off x="0" y="2852738"/>
            <a:ext cx="327660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ZoneTexte 7"/>
          <p:cNvSpPr txBox="1"/>
          <p:nvPr userDrawn="1"/>
        </p:nvSpPr>
        <p:spPr>
          <a:xfrm>
            <a:off x="5786438" y="5743575"/>
            <a:ext cx="3125787" cy="215900"/>
          </a:xfrm>
          <a:prstGeom prst="rect">
            <a:avLst/>
          </a:prstGeom>
          <a:noFill/>
        </p:spPr>
        <p:txBody>
          <a:bodyPr anchor="ctr">
            <a:spAutoFit/>
          </a:bodyPr>
          <a:lstStyle/>
          <a:p>
            <a:pPr algn="r">
              <a:defRPr/>
            </a:pPr>
            <a:r>
              <a:rPr lang="fr-FR" sz="1200" b="1" spc="600" baseline="30000" dirty="0">
                <a:solidFill>
                  <a:schemeClr val="bg1"/>
                </a:solidFill>
              </a:rPr>
              <a:t>SCHOOL OF MANAGEMENT</a:t>
            </a:r>
          </a:p>
        </p:txBody>
      </p:sp>
      <p:sp>
        <p:nvSpPr>
          <p:cNvPr id="9" name="Rectangle 5"/>
          <p:cNvSpPr>
            <a:spLocks noChangeArrowheads="1"/>
          </p:cNvSpPr>
          <p:nvPr userDrawn="1"/>
        </p:nvSpPr>
        <p:spPr bwMode="auto">
          <a:xfrm flipV="1">
            <a:off x="0" y="5949950"/>
            <a:ext cx="9144000" cy="908050"/>
          </a:xfrm>
          <a:prstGeom prst="rect">
            <a:avLst/>
          </a:prstGeom>
          <a:solidFill>
            <a:srgbClr val="00447A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fr-FR"/>
          </a:p>
        </p:txBody>
      </p:sp>
      <p:pic>
        <p:nvPicPr>
          <p:cNvPr id="10" name="Image 13" descr="Audencia-Group_Blanc.png"/>
          <p:cNvPicPr>
            <a:picLocks noChangeAspect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0825" y="6067425"/>
            <a:ext cx="1476375" cy="67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11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D7A095-96A4-4E15-8BE8-B45297EC306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5" descr="AudenciaNantes_Noir.wmf"/>
          <p:cNvPicPr>
            <a:picLocks noChangeAspect="1"/>
          </p:cNvPicPr>
          <p:nvPr userDrawn="1"/>
        </p:nvPicPr>
        <p:blipFill>
          <a:blip r:embed="rId2" cstate="print">
            <a:lum bright="90000"/>
          </a:blip>
          <a:srcRect r="75719" b="16100"/>
          <a:stretch>
            <a:fillRect/>
          </a:stretch>
        </p:blipFill>
        <p:spPr bwMode="auto">
          <a:xfrm>
            <a:off x="6227763" y="4027488"/>
            <a:ext cx="2916237" cy="2830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Connecteur droit 4"/>
          <p:cNvCxnSpPr/>
          <p:nvPr userDrawn="1"/>
        </p:nvCxnSpPr>
        <p:spPr>
          <a:xfrm>
            <a:off x="0" y="1268413"/>
            <a:ext cx="9144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B72B5"/>
                </a:solidFill>
              </a:defRPr>
            </a:lvl1pPr>
          </a:lstStyle>
          <a:p>
            <a:r>
              <a:rPr lang="fr-FR" dirty="0" smtClean="0"/>
              <a:t>Cliquez pour modifier le style du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FR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4CEAFB-1FFD-4912-9039-956D1E0B9EF1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0B72B5"/>
                </a:solidFill>
              </a:defRPr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59569A-BA2B-4D08-AC15-D830B66647D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5" descr="AudenciaNantes_Noir.wmf"/>
          <p:cNvPicPr>
            <a:picLocks noChangeAspect="1"/>
          </p:cNvPicPr>
          <p:nvPr userDrawn="1"/>
        </p:nvPicPr>
        <p:blipFill>
          <a:blip r:embed="rId2" cstate="print">
            <a:lum bright="90000"/>
          </a:blip>
          <a:srcRect r="75719" b="16100"/>
          <a:stretch>
            <a:fillRect/>
          </a:stretch>
        </p:blipFill>
        <p:spPr bwMode="auto">
          <a:xfrm>
            <a:off x="6227763" y="4027488"/>
            <a:ext cx="2916237" cy="2830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Connecteur droit 5"/>
          <p:cNvCxnSpPr/>
          <p:nvPr userDrawn="1"/>
        </p:nvCxnSpPr>
        <p:spPr>
          <a:xfrm>
            <a:off x="0" y="1268413"/>
            <a:ext cx="9144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B72B5"/>
                </a:solidFill>
              </a:defRPr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DCB74E-5A43-4837-A104-D480E61C658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5" descr="AudenciaNantes_Noir.wmf"/>
          <p:cNvPicPr>
            <a:picLocks noChangeAspect="1"/>
          </p:cNvPicPr>
          <p:nvPr userDrawn="1"/>
        </p:nvPicPr>
        <p:blipFill>
          <a:blip r:embed="rId2" cstate="print">
            <a:lum bright="90000"/>
          </a:blip>
          <a:srcRect r="75719" b="16100"/>
          <a:stretch>
            <a:fillRect/>
          </a:stretch>
        </p:blipFill>
        <p:spPr bwMode="auto">
          <a:xfrm>
            <a:off x="6227763" y="4027488"/>
            <a:ext cx="2916237" cy="2830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Connecteur droit 7"/>
          <p:cNvCxnSpPr/>
          <p:nvPr userDrawn="1"/>
        </p:nvCxnSpPr>
        <p:spPr>
          <a:xfrm>
            <a:off x="0" y="1268413"/>
            <a:ext cx="9144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B72B5"/>
                </a:solidFill>
              </a:defRPr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D95923-E50E-4668-B60A-D86161509C86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5" descr="AudenciaNantes_Noir.wmf"/>
          <p:cNvPicPr>
            <a:picLocks noChangeAspect="1"/>
          </p:cNvPicPr>
          <p:nvPr userDrawn="1"/>
        </p:nvPicPr>
        <p:blipFill>
          <a:blip r:embed="rId2" cstate="print">
            <a:lum bright="90000"/>
          </a:blip>
          <a:srcRect r="75719" b="16100"/>
          <a:stretch>
            <a:fillRect/>
          </a:stretch>
        </p:blipFill>
        <p:spPr bwMode="auto">
          <a:xfrm>
            <a:off x="6227763" y="4027488"/>
            <a:ext cx="2916237" cy="2830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Connecteur droit 3"/>
          <p:cNvCxnSpPr/>
          <p:nvPr userDrawn="1"/>
        </p:nvCxnSpPr>
        <p:spPr>
          <a:xfrm>
            <a:off x="0" y="1268413"/>
            <a:ext cx="9144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B72B5"/>
                </a:solidFill>
              </a:defRPr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26902C-236F-464E-A4EF-66A8D90E70D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5" descr="AudenciaNantes_Noir.wmf"/>
          <p:cNvPicPr>
            <a:picLocks noChangeAspect="1"/>
          </p:cNvPicPr>
          <p:nvPr userDrawn="1"/>
        </p:nvPicPr>
        <p:blipFill>
          <a:blip r:embed="rId2" cstate="print">
            <a:lum bright="90000"/>
          </a:blip>
          <a:srcRect r="75719" b="16100"/>
          <a:stretch>
            <a:fillRect/>
          </a:stretch>
        </p:blipFill>
        <p:spPr bwMode="auto">
          <a:xfrm>
            <a:off x="6227763" y="4027488"/>
            <a:ext cx="2916237" cy="2830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" name="Connecteur droit 2"/>
          <p:cNvCxnSpPr/>
          <p:nvPr userDrawn="1"/>
        </p:nvCxnSpPr>
        <p:spPr>
          <a:xfrm>
            <a:off x="0" y="1268413"/>
            <a:ext cx="9144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FCEA9C-7AD1-4487-859D-C9EF874E814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5" descr="AudenciaNantes_Noir.wmf"/>
          <p:cNvPicPr>
            <a:picLocks noChangeAspect="1"/>
          </p:cNvPicPr>
          <p:nvPr userDrawn="1"/>
        </p:nvPicPr>
        <p:blipFill>
          <a:blip r:embed="rId2" cstate="print">
            <a:lum bright="90000"/>
          </a:blip>
          <a:srcRect r="75719" b="16100"/>
          <a:stretch>
            <a:fillRect/>
          </a:stretch>
        </p:blipFill>
        <p:spPr bwMode="auto">
          <a:xfrm>
            <a:off x="6227763" y="4027488"/>
            <a:ext cx="2916237" cy="2830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Connecteur droit 5"/>
          <p:cNvCxnSpPr/>
          <p:nvPr userDrawn="1"/>
        </p:nvCxnSpPr>
        <p:spPr>
          <a:xfrm>
            <a:off x="0" y="1268413"/>
            <a:ext cx="9144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solidFill>
                  <a:srgbClr val="0B72B5"/>
                </a:solidFill>
              </a:defRPr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5EABDC-B99A-49E3-BD3B-3FA23F6C7A2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5" descr="AudenciaNantes_Noir.wmf"/>
          <p:cNvPicPr>
            <a:picLocks noChangeAspect="1"/>
          </p:cNvPicPr>
          <p:nvPr userDrawn="1"/>
        </p:nvPicPr>
        <p:blipFill>
          <a:blip r:embed="rId2" cstate="print">
            <a:lum bright="90000"/>
          </a:blip>
          <a:srcRect r="75719" b="16100"/>
          <a:stretch>
            <a:fillRect/>
          </a:stretch>
        </p:blipFill>
        <p:spPr bwMode="auto">
          <a:xfrm>
            <a:off x="6227763" y="4027488"/>
            <a:ext cx="2916237" cy="2830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Connecteur droit 5"/>
          <p:cNvCxnSpPr/>
          <p:nvPr userDrawn="1"/>
        </p:nvCxnSpPr>
        <p:spPr>
          <a:xfrm>
            <a:off x="0" y="1268413"/>
            <a:ext cx="9144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solidFill>
                  <a:srgbClr val="0B72B5"/>
                </a:solidFill>
              </a:defRPr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C6C956-679A-4DC5-928C-C97C7B13BE4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5" descr="AudenciaNantes_Noir.wmf"/>
          <p:cNvPicPr>
            <a:picLocks noChangeAspect="1"/>
          </p:cNvPicPr>
          <p:nvPr userDrawn="1"/>
        </p:nvPicPr>
        <p:blipFill>
          <a:blip r:embed="rId2" cstate="print">
            <a:lum bright="90000"/>
          </a:blip>
          <a:srcRect r="75719" b="16100"/>
          <a:stretch>
            <a:fillRect/>
          </a:stretch>
        </p:blipFill>
        <p:spPr bwMode="auto">
          <a:xfrm>
            <a:off x="6227763" y="4027488"/>
            <a:ext cx="2916237" cy="2830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Connecteur droit 4"/>
          <p:cNvCxnSpPr/>
          <p:nvPr userDrawn="1"/>
        </p:nvCxnSpPr>
        <p:spPr>
          <a:xfrm>
            <a:off x="0" y="1268413"/>
            <a:ext cx="9144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B72B5"/>
                </a:solidFill>
              </a:defRPr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3F74B6-A367-4AC6-BF4C-5E15549DEEE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5" descr="AudenciaNantes_Noir.wmf"/>
          <p:cNvPicPr>
            <a:picLocks noChangeAspect="1"/>
          </p:cNvPicPr>
          <p:nvPr userDrawn="1"/>
        </p:nvPicPr>
        <p:blipFill>
          <a:blip r:embed="rId2" cstate="print">
            <a:lum bright="90000"/>
          </a:blip>
          <a:srcRect r="75719" b="16100"/>
          <a:stretch>
            <a:fillRect/>
          </a:stretch>
        </p:blipFill>
        <p:spPr bwMode="auto">
          <a:xfrm>
            <a:off x="6227763" y="4027488"/>
            <a:ext cx="2916237" cy="2830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Connecteur droit 4"/>
          <p:cNvCxnSpPr/>
          <p:nvPr userDrawn="1"/>
        </p:nvCxnSpPr>
        <p:spPr>
          <a:xfrm>
            <a:off x="0" y="1268413"/>
            <a:ext cx="9144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>
                <a:solidFill>
                  <a:srgbClr val="0B72B5"/>
                </a:solidFill>
              </a:defRPr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CD8C81-F0FF-47E3-9F24-B40E7F8ADB10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"/>
          <p:cNvSpPr>
            <a:spLocks noGrp="1"/>
          </p:cNvSpPr>
          <p:nvPr>
            <p:ph type="ctrTitle"/>
          </p:nvPr>
        </p:nvSpPr>
        <p:spPr>
          <a:xfrm>
            <a:off x="669732" y="2925214"/>
            <a:ext cx="8474267" cy="625475"/>
          </a:xfrm>
          <a:prstGeom prst="rect">
            <a:avLst/>
          </a:prstGeom>
        </p:spPr>
        <p:txBody>
          <a:bodyPr anchor="b"/>
          <a:lstStyle>
            <a:lvl1pPr algn="l">
              <a:defRPr sz="3500" cap="all" baseline="0">
                <a:solidFill>
                  <a:schemeClr val="bg1"/>
                </a:solidFill>
                <a:latin typeface="HelveticaNeueLT Std Med" panose="020B0604020202020204" pitchFamily="34" charset="0"/>
              </a:defRPr>
            </a:lvl1pPr>
          </a:lstStyle>
          <a:p>
            <a:r>
              <a:rPr lang="fr-FR" dirty="0" smtClean="0"/>
              <a:t>Modifiez le style du titre</a:t>
            </a:r>
            <a:endParaRPr lang="fr-FR" dirty="0"/>
          </a:p>
        </p:txBody>
      </p:sp>
      <p:sp>
        <p:nvSpPr>
          <p:cNvPr id="14" name="Sous-titre 2"/>
          <p:cNvSpPr txBox="1">
            <a:spLocks/>
          </p:cNvSpPr>
          <p:nvPr/>
        </p:nvSpPr>
        <p:spPr>
          <a:xfrm>
            <a:off x="599554" y="3615627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>
              <a:solidFill>
                <a:schemeClr val="bg1">
                  <a:lumMod val="50000"/>
                </a:schemeClr>
              </a:solidFill>
              <a:latin typeface="HelveticaNeueLT Std Med" panose="020B0604020202020204" pitchFamily="34" charset="0"/>
            </a:endParaRPr>
          </a:p>
        </p:txBody>
      </p:sp>
      <p:cxnSp>
        <p:nvCxnSpPr>
          <p:cNvPr id="16" name="Connecteur droit 15"/>
          <p:cNvCxnSpPr/>
          <p:nvPr/>
        </p:nvCxnSpPr>
        <p:spPr>
          <a:xfrm>
            <a:off x="611560" y="3068960"/>
            <a:ext cx="0" cy="1296144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ous-titre 2"/>
          <p:cNvSpPr>
            <a:spLocks noGrp="1"/>
          </p:cNvSpPr>
          <p:nvPr>
            <p:ph type="subTitle" idx="1"/>
          </p:nvPr>
        </p:nvSpPr>
        <p:spPr>
          <a:xfrm>
            <a:off x="669731" y="3789040"/>
            <a:ext cx="8366765" cy="48067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062635"/>
                </a:solidFill>
                <a:latin typeface="HelveticaNeueLT Std Med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 smtClean="0"/>
              <a:t>Modifiez le style des sous-titres du masque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541903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e la date 3"/>
          <p:cNvSpPr txBox="1">
            <a:spLocks/>
          </p:cNvSpPr>
          <p:nvPr userDrawn="1"/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49927-3557-4104-8DAB-270FD73B059C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27/04/2020</a:t>
            </a:fld>
            <a:endParaRPr kumimoji="0" lang="fr-FR" sz="12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" name="Image 9" descr="ACCRED_2016_BLANC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724128" y="5497320"/>
            <a:ext cx="3607211" cy="1718060"/>
          </a:xfrm>
          <a:prstGeom prst="rect">
            <a:avLst/>
          </a:prstGeom>
        </p:spPr>
      </p:pic>
      <p:cxnSp>
        <p:nvCxnSpPr>
          <p:cNvPr id="11" name="Connecteur droit 10"/>
          <p:cNvCxnSpPr/>
          <p:nvPr userDrawn="1"/>
        </p:nvCxnSpPr>
        <p:spPr>
          <a:xfrm>
            <a:off x="611560" y="1124744"/>
            <a:ext cx="0" cy="144016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 userDrawn="1"/>
        </p:nvSpPr>
        <p:spPr>
          <a:xfrm>
            <a:off x="0" y="4149080"/>
            <a:ext cx="9144000" cy="2708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Sous-titre 2"/>
          <p:cNvSpPr txBox="1">
            <a:spLocks/>
          </p:cNvSpPr>
          <p:nvPr userDrawn="1"/>
        </p:nvSpPr>
        <p:spPr>
          <a:xfrm>
            <a:off x="599554" y="3615627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>
              <a:solidFill>
                <a:schemeClr val="bg1">
                  <a:lumMod val="50000"/>
                </a:schemeClr>
              </a:solidFill>
              <a:latin typeface="HelveticaNeueLT Std Med" panose="020B0604020202020204" pitchFamily="34" charset="0"/>
            </a:endParaRPr>
          </a:p>
        </p:txBody>
      </p:sp>
      <p:pic>
        <p:nvPicPr>
          <p:cNvPr id="13" name="Image 6" descr="Audencia_Ecole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7425" y="3860800"/>
            <a:ext cx="3076575" cy="298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ectangle 17"/>
          <p:cNvSpPr/>
          <p:nvPr userDrawn="1"/>
        </p:nvSpPr>
        <p:spPr>
          <a:xfrm>
            <a:off x="0" y="0"/>
            <a:ext cx="9144000" cy="4149080"/>
          </a:xfrm>
          <a:prstGeom prst="rect">
            <a:avLst/>
          </a:prstGeom>
          <a:solidFill>
            <a:srgbClr val="125F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1361AC"/>
              </a:solidFill>
            </a:endParaRPr>
          </a:p>
        </p:txBody>
      </p:sp>
      <p:sp>
        <p:nvSpPr>
          <p:cNvPr id="21" name="Titre 1"/>
          <p:cNvSpPr>
            <a:spLocks noGrp="1"/>
          </p:cNvSpPr>
          <p:nvPr>
            <p:ph type="ctrTitle"/>
          </p:nvPr>
        </p:nvSpPr>
        <p:spPr>
          <a:xfrm>
            <a:off x="728907" y="996287"/>
            <a:ext cx="8474267" cy="625475"/>
          </a:xfrm>
          <a:prstGeom prst="rect">
            <a:avLst/>
          </a:prstGeom>
        </p:spPr>
        <p:txBody>
          <a:bodyPr anchor="b"/>
          <a:lstStyle>
            <a:lvl1pPr marL="0" indent="0" algn="l">
              <a:buFont typeface="+mj-lt"/>
              <a:buAutoNum type="arabicPeriod"/>
              <a:defRPr sz="3500" cap="all" baseline="0">
                <a:solidFill>
                  <a:schemeClr val="bg1"/>
                </a:solidFill>
                <a:latin typeface="HelveticaNeueLT Std Med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23" name="Titre 1"/>
          <p:cNvSpPr txBox="1">
            <a:spLocks/>
          </p:cNvSpPr>
          <p:nvPr userDrawn="1"/>
        </p:nvSpPr>
        <p:spPr>
          <a:xfrm>
            <a:off x="728907" y="1573780"/>
            <a:ext cx="8474267" cy="625475"/>
          </a:xfrm>
          <a:prstGeom prst="rect">
            <a:avLst/>
          </a:prstGeom>
        </p:spPr>
        <p:txBody>
          <a:bodyPr anchor="b"/>
          <a:lstStyle>
            <a:lvl1pPr marL="0" indent="0" algn="l" defTabSz="914400" rtl="0" eaLnBrk="1" latinLnBrk="0" hangingPunct="1">
              <a:spcBef>
                <a:spcPct val="0"/>
              </a:spcBef>
              <a:buFont typeface="+mj-lt"/>
              <a:buAutoNum type="arabicPeriod"/>
              <a:defRPr sz="3500" kern="1200" cap="all" baseline="0">
                <a:solidFill>
                  <a:schemeClr val="bg1"/>
                </a:solidFill>
                <a:latin typeface="HelveticaNeueLT Std Med" panose="020B0604020202020204" pitchFamily="34" charset="0"/>
                <a:ea typeface="+mj-ea"/>
                <a:cs typeface="+mj-cs"/>
              </a:defRPr>
            </a:lvl1pPr>
          </a:lstStyle>
          <a:p>
            <a:pPr>
              <a:buNone/>
            </a:pPr>
            <a:endParaRPr lang="fr-FR" dirty="0"/>
          </a:p>
        </p:txBody>
      </p:sp>
      <p:sp>
        <p:nvSpPr>
          <p:cNvPr id="17" name="Sous-titre 2"/>
          <p:cNvSpPr>
            <a:spLocks noGrp="1"/>
          </p:cNvSpPr>
          <p:nvPr>
            <p:ph type="subTitle" idx="1"/>
          </p:nvPr>
        </p:nvSpPr>
        <p:spPr>
          <a:xfrm>
            <a:off x="728907" y="2226562"/>
            <a:ext cx="8366765" cy="48067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062635"/>
                </a:solidFill>
                <a:latin typeface="HelveticaNeueLT Std Med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 smtClean="0"/>
              <a:t>Modifiez le style des sous-titres du masque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851223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-17916" y="0"/>
            <a:ext cx="916191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Espace réservé du contenu 2"/>
          <p:cNvSpPr>
            <a:spLocks noGrp="1"/>
          </p:cNvSpPr>
          <p:nvPr>
            <p:ph idx="1"/>
          </p:nvPr>
        </p:nvSpPr>
        <p:spPr>
          <a:xfrm>
            <a:off x="467543" y="2669464"/>
            <a:ext cx="7886700" cy="4351338"/>
          </a:xfrm>
          <a:prstGeom prst="rect">
            <a:avLst/>
          </a:prstGeom>
        </p:spPr>
        <p:txBody>
          <a:bodyPr/>
          <a:lstStyle>
            <a:lvl1pPr marL="355600" indent="-355600">
              <a:buClr>
                <a:schemeClr val="tx1">
                  <a:lumMod val="85000"/>
                  <a:lumOff val="15000"/>
                </a:schemeClr>
              </a:buClr>
              <a:buSzPct val="70000"/>
              <a:buFont typeface="Wingdings" panose="05000000000000000000" pitchFamily="2" charset="2"/>
              <a:buChar char="§"/>
              <a:defRPr sz="2500">
                <a:solidFill>
                  <a:srgbClr val="404040"/>
                </a:solidFill>
              </a:defRPr>
            </a:lvl1pPr>
            <a:lvl2pPr marL="742950" indent="-285750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2300">
                <a:solidFill>
                  <a:srgbClr val="404040"/>
                </a:solidFill>
              </a:defRPr>
            </a:lvl2pPr>
            <a:lvl3pPr marL="1143000" indent="-228600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2000">
                <a:solidFill>
                  <a:srgbClr val="404040"/>
                </a:solidFill>
              </a:defRPr>
            </a:lvl3pPr>
            <a:lvl4pPr marL="1600200" indent="-228600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1800">
                <a:solidFill>
                  <a:srgbClr val="404040"/>
                </a:solidFill>
              </a:defRPr>
            </a:lvl4pPr>
            <a:lvl5pPr marL="2057400" indent="-228600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1600">
                <a:solidFill>
                  <a:srgbClr val="404040"/>
                </a:solidFill>
              </a:defRPr>
            </a:lvl5pPr>
          </a:lstStyle>
          <a:p>
            <a:pPr lvl="0"/>
            <a:r>
              <a:rPr lang="fr-FR" dirty="0" smtClean="0"/>
              <a:t>Modifiez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FR" dirty="0"/>
          </a:p>
        </p:txBody>
      </p:sp>
      <p:cxnSp>
        <p:nvCxnSpPr>
          <p:cNvPr id="13" name="Connecteur droit 12"/>
          <p:cNvCxnSpPr/>
          <p:nvPr/>
        </p:nvCxnSpPr>
        <p:spPr>
          <a:xfrm>
            <a:off x="539552" y="116632"/>
            <a:ext cx="0" cy="792088"/>
          </a:xfrm>
          <a:prstGeom prst="line">
            <a:avLst/>
          </a:prstGeom>
          <a:ln w="57150">
            <a:solidFill>
              <a:srgbClr val="1361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tre 1"/>
          <p:cNvSpPr>
            <a:spLocks noGrp="1"/>
          </p:cNvSpPr>
          <p:nvPr>
            <p:ph type="title"/>
          </p:nvPr>
        </p:nvSpPr>
        <p:spPr>
          <a:xfrm>
            <a:off x="827584" y="996982"/>
            <a:ext cx="7886700" cy="633687"/>
          </a:xfrm>
          <a:prstGeom prst="rect">
            <a:avLst/>
          </a:prstGeom>
        </p:spPr>
        <p:txBody>
          <a:bodyPr/>
          <a:lstStyle>
            <a:lvl1pPr algn="l">
              <a:defRPr sz="3600" kern="0" cap="none" spc="240" baseline="0">
                <a:solidFill>
                  <a:srgbClr val="1D2D3F"/>
                </a:solidFill>
                <a:latin typeface="HelveticaNeueLT Std Med" panose="020B0604020202020204" pitchFamily="34" charset="0"/>
              </a:defRPr>
            </a:lvl1pPr>
          </a:lstStyle>
          <a:p>
            <a:r>
              <a:rPr lang="fr-FR" dirty="0" smtClean="0"/>
              <a:t>Modifiez le style du titre</a:t>
            </a:r>
            <a:endParaRPr lang="fr-FR" dirty="0"/>
          </a:p>
        </p:txBody>
      </p:sp>
      <p:sp>
        <p:nvSpPr>
          <p:cNvPr id="20" name="Sous-titre 2"/>
          <p:cNvSpPr>
            <a:spLocks noGrp="1"/>
          </p:cNvSpPr>
          <p:nvPr>
            <p:ph type="subTitle" idx="13"/>
          </p:nvPr>
        </p:nvSpPr>
        <p:spPr>
          <a:xfrm>
            <a:off x="853526" y="1630669"/>
            <a:ext cx="8366765" cy="48067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spc="240" baseline="0">
                <a:solidFill>
                  <a:schemeClr val="bg1">
                    <a:lumMod val="50000"/>
                  </a:schemeClr>
                </a:solidFill>
                <a:latin typeface="HelveticaNeueLT Std Med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 smtClean="0"/>
              <a:t>Modifiez le style des sous-titres du masque</a:t>
            </a:r>
            <a:endParaRPr lang="fr-FR" dirty="0"/>
          </a:p>
        </p:txBody>
      </p:sp>
      <p:pic>
        <p:nvPicPr>
          <p:cNvPr id="11" name="Image 6" descr="Audencia_Ecole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7425" y="3860800"/>
            <a:ext cx="3076575" cy="298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8892480" y="0"/>
            <a:ext cx="251520" cy="6858000"/>
          </a:xfrm>
          <a:prstGeom prst="rect">
            <a:avLst/>
          </a:prstGeom>
          <a:solidFill>
            <a:srgbClr val="1361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07C7597-8D70-4701-8085-9524B0B5C7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7246352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-17916" y="0"/>
            <a:ext cx="916191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Espace réservé du contenu 2"/>
          <p:cNvSpPr>
            <a:spLocks noGrp="1"/>
          </p:cNvSpPr>
          <p:nvPr>
            <p:ph idx="1"/>
          </p:nvPr>
        </p:nvSpPr>
        <p:spPr>
          <a:xfrm>
            <a:off x="467543" y="2669464"/>
            <a:ext cx="7886700" cy="4351338"/>
          </a:xfrm>
          <a:prstGeom prst="rect">
            <a:avLst/>
          </a:prstGeom>
        </p:spPr>
        <p:txBody>
          <a:bodyPr/>
          <a:lstStyle>
            <a:lvl1pPr marL="355600" indent="-355600">
              <a:buClr>
                <a:schemeClr val="tx1">
                  <a:lumMod val="85000"/>
                  <a:lumOff val="15000"/>
                </a:schemeClr>
              </a:buClr>
              <a:buSzPct val="70000"/>
              <a:buFont typeface="Wingdings" panose="05000000000000000000" pitchFamily="2" charset="2"/>
              <a:buChar char="§"/>
              <a:defRPr sz="2500">
                <a:solidFill>
                  <a:srgbClr val="404040"/>
                </a:solidFill>
              </a:defRPr>
            </a:lvl1pPr>
            <a:lvl2pPr marL="742950" indent="-285750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2300">
                <a:solidFill>
                  <a:srgbClr val="404040"/>
                </a:solidFill>
              </a:defRPr>
            </a:lvl2pPr>
            <a:lvl3pPr marL="1143000" indent="-228600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2000">
                <a:solidFill>
                  <a:srgbClr val="404040"/>
                </a:solidFill>
              </a:defRPr>
            </a:lvl3pPr>
            <a:lvl4pPr marL="1600200" indent="-228600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1800">
                <a:solidFill>
                  <a:srgbClr val="404040"/>
                </a:solidFill>
              </a:defRPr>
            </a:lvl4pPr>
            <a:lvl5pPr marL="2057400" indent="-228600">
              <a:buClr>
                <a:schemeClr val="tx1">
                  <a:lumMod val="85000"/>
                  <a:lumOff val="15000"/>
                </a:schemeClr>
              </a:buClr>
              <a:buSzPct val="50000"/>
              <a:buFont typeface="Wingdings" panose="05000000000000000000" pitchFamily="2" charset="2"/>
              <a:buChar char="§"/>
              <a:defRPr sz="1600">
                <a:solidFill>
                  <a:srgbClr val="404040"/>
                </a:solidFill>
              </a:defRPr>
            </a:lvl5pPr>
          </a:lstStyle>
          <a:p>
            <a:pPr lvl="0"/>
            <a:r>
              <a:rPr lang="fr-FR" dirty="0" smtClean="0"/>
              <a:t>Modifiez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FR" dirty="0"/>
          </a:p>
        </p:txBody>
      </p:sp>
      <p:cxnSp>
        <p:nvCxnSpPr>
          <p:cNvPr id="13" name="Connecteur droit 12"/>
          <p:cNvCxnSpPr/>
          <p:nvPr/>
        </p:nvCxnSpPr>
        <p:spPr>
          <a:xfrm>
            <a:off x="539552" y="116632"/>
            <a:ext cx="0" cy="792088"/>
          </a:xfrm>
          <a:prstGeom prst="line">
            <a:avLst/>
          </a:prstGeom>
          <a:ln w="57150">
            <a:solidFill>
              <a:srgbClr val="1361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tre 1"/>
          <p:cNvSpPr>
            <a:spLocks noGrp="1"/>
          </p:cNvSpPr>
          <p:nvPr>
            <p:ph type="title"/>
          </p:nvPr>
        </p:nvSpPr>
        <p:spPr>
          <a:xfrm>
            <a:off x="827584" y="996982"/>
            <a:ext cx="7886700" cy="633687"/>
          </a:xfrm>
          <a:prstGeom prst="rect">
            <a:avLst/>
          </a:prstGeom>
        </p:spPr>
        <p:txBody>
          <a:bodyPr/>
          <a:lstStyle>
            <a:lvl1pPr algn="l">
              <a:defRPr sz="3600" kern="0" cap="none" spc="240" baseline="0">
                <a:solidFill>
                  <a:srgbClr val="1D2D3F"/>
                </a:solidFill>
                <a:latin typeface="HelveticaNeueLT Std Med" panose="020B0604020202020204" pitchFamily="34" charset="0"/>
              </a:defRPr>
            </a:lvl1pPr>
          </a:lstStyle>
          <a:p>
            <a:r>
              <a:rPr lang="fr-FR" dirty="0" smtClean="0"/>
              <a:t>Modifiez le style du titre</a:t>
            </a:r>
            <a:endParaRPr lang="fr-FR" dirty="0"/>
          </a:p>
        </p:txBody>
      </p:sp>
      <p:sp>
        <p:nvSpPr>
          <p:cNvPr id="20" name="Sous-titre 2"/>
          <p:cNvSpPr>
            <a:spLocks noGrp="1"/>
          </p:cNvSpPr>
          <p:nvPr>
            <p:ph type="subTitle" idx="13"/>
          </p:nvPr>
        </p:nvSpPr>
        <p:spPr>
          <a:xfrm>
            <a:off x="853526" y="1630669"/>
            <a:ext cx="8366765" cy="48067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spc="240" baseline="0">
                <a:solidFill>
                  <a:schemeClr val="bg1">
                    <a:lumMod val="50000"/>
                  </a:schemeClr>
                </a:solidFill>
                <a:latin typeface="HelveticaNeueLT Std Med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 smtClean="0"/>
              <a:t>Modifiez le style des sous-titres du masque</a:t>
            </a:r>
            <a:endParaRPr lang="fr-FR" dirty="0"/>
          </a:p>
        </p:txBody>
      </p:sp>
      <p:pic>
        <p:nvPicPr>
          <p:cNvPr id="11" name="Image 6" descr="Audencia_Ecole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7425" y="3860800"/>
            <a:ext cx="3076575" cy="298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8892480" y="0"/>
            <a:ext cx="251520" cy="6858000"/>
          </a:xfrm>
          <a:prstGeom prst="rect">
            <a:avLst/>
          </a:prstGeom>
          <a:solidFill>
            <a:srgbClr val="1361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07C7597-8D70-4701-8085-9524B0B5C7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7660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BD71EC-4A32-40BD-ADAB-2BC0D15E2E8F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79A9E0-ED63-42A9-A8CF-44FEE337526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0C591F-80F2-4661-83D7-DD2F2F06F76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652C90-5835-46F7-9AA7-3D405615FEB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EB5F78-D815-4D72-8C85-7F03B7340A8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EC917E-22D9-4DFE-B2F5-876E27408F3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05B59C-2149-4A64-9085-45A0EC6ED3D1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AF7F7C-3F09-49DA-A0F3-D68ED7B1E9D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FAC8A0-1457-46EE-BE77-B4B7BD0511F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C79E68-3A95-4317-A272-BD815D197006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6DCB5A-AA6B-4ED1-882A-2C07248D4F3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 style du titre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D084DEE-C051-4306-9E37-BB44E60CF0B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  <p:sldLayoutId id="2147483867" r:id="rId2"/>
    <p:sldLayoutId id="2147483854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  <p:sldLayoutId id="2147483876" r:id="rId12"/>
    <p:sldLayoutId id="2147483877" r:id="rId13"/>
    <p:sldLayoutId id="2147483880" r:id="rId14"/>
    <p:sldLayoutId id="2147483881" r:id="rId15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008A9E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008A9E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008A9E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008A9E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008A9E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F7EFCE5-7328-4891-8BEF-3B3E7BF0CC2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6156325" y="5661025"/>
            <a:ext cx="2987675" cy="2889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/>
          </a:p>
        </p:txBody>
      </p:sp>
      <p:pic>
        <p:nvPicPr>
          <p:cNvPr id="2054" name="Image 5" descr="AudenciaNantes_CMJN_Centre.jpg"/>
          <p:cNvPicPr>
            <a:picLocks noChangeAspect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2124075" y="1557338"/>
            <a:ext cx="4751388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5"/>
          <p:cNvSpPr>
            <a:spLocks noChangeArrowheads="1"/>
          </p:cNvSpPr>
          <p:nvPr/>
        </p:nvSpPr>
        <p:spPr bwMode="auto">
          <a:xfrm flipV="1">
            <a:off x="0" y="5949950"/>
            <a:ext cx="9144000" cy="908050"/>
          </a:xfrm>
          <a:prstGeom prst="rect">
            <a:avLst/>
          </a:prstGeom>
          <a:solidFill>
            <a:srgbClr val="00447A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fr-FR"/>
          </a:p>
        </p:txBody>
      </p:sp>
      <p:sp>
        <p:nvSpPr>
          <p:cNvPr id="11" name="ZoneTexte 10"/>
          <p:cNvSpPr txBox="1"/>
          <p:nvPr/>
        </p:nvSpPr>
        <p:spPr>
          <a:xfrm>
            <a:off x="5724525" y="5743575"/>
            <a:ext cx="3125788" cy="215900"/>
          </a:xfrm>
          <a:prstGeom prst="rect">
            <a:avLst/>
          </a:prstGeom>
          <a:noFill/>
        </p:spPr>
        <p:txBody>
          <a:bodyPr anchor="ctr">
            <a:spAutoFit/>
          </a:bodyPr>
          <a:lstStyle/>
          <a:p>
            <a:pPr algn="r">
              <a:defRPr/>
            </a:pPr>
            <a:r>
              <a:rPr lang="fr-FR" sz="1200" b="1" spc="600" baseline="30000" dirty="0">
                <a:solidFill>
                  <a:schemeClr val="bg1"/>
                </a:solidFill>
              </a:rPr>
              <a:t>SCHOOL OF MANAGEMENT</a:t>
            </a:r>
          </a:p>
        </p:txBody>
      </p:sp>
      <p:pic>
        <p:nvPicPr>
          <p:cNvPr id="2057" name="Image 8" descr="Audencia-Group_Blanc.png"/>
          <p:cNvPicPr>
            <a:picLocks noChangeAspect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250825" y="6067425"/>
            <a:ext cx="1476375" cy="67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  <p:sldLayoutId id="2147483856" r:id="rId2"/>
    <p:sldLayoutId id="2147483857" r:id="rId3"/>
    <p:sldLayoutId id="2147483858" r:id="rId4"/>
    <p:sldLayoutId id="2147483859" r:id="rId5"/>
    <p:sldLayoutId id="2147483860" r:id="rId6"/>
    <p:sldLayoutId id="2147483861" r:id="rId7"/>
    <p:sldLayoutId id="2147483862" r:id="rId8"/>
    <p:sldLayoutId id="2147483863" r:id="rId9"/>
    <p:sldLayoutId id="2147483864" r:id="rId10"/>
    <p:sldLayoutId id="2147483865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" y="1844824"/>
            <a:ext cx="9036496" cy="5013176"/>
          </a:xfrm>
          <a:prstGeom prst="rect">
            <a:avLst/>
          </a:prstGeom>
          <a:solidFill>
            <a:srgbClr val="0626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8448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Image 9" descr="ACCRED_2016_BLANC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24128" y="5497320"/>
            <a:ext cx="3607211" cy="1718060"/>
          </a:xfrm>
          <a:prstGeom prst="rect">
            <a:avLst/>
          </a:prstGeom>
        </p:spPr>
      </p:pic>
      <p:sp>
        <p:nvSpPr>
          <p:cNvPr id="12" name="Sous-titre 2"/>
          <p:cNvSpPr>
            <a:spLocks noGrp="1"/>
          </p:cNvSpPr>
          <p:nvPr>
            <p:ph type="subTitle" idx="1"/>
          </p:nvPr>
        </p:nvSpPr>
        <p:spPr>
          <a:xfrm>
            <a:off x="669731" y="2780928"/>
            <a:ext cx="8366765" cy="148878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  <a:latin typeface="HelveticaNeueLT Std Med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algn="ctr"/>
            <a:endParaRPr lang="en-US" sz="3200" dirty="0" smtClean="0">
              <a:solidFill>
                <a:schemeClr val="bg1"/>
              </a:solidFill>
            </a:endParaRPr>
          </a:p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Session </a:t>
            </a:r>
            <a:r>
              <a:rPr lang="en-US" sz="3200" dirty="0">
                <a:solidFill>
                  <a:schemeClr val="bg1"/>
                </a:solidFill>
              </a:rPr>
              <a:t>9</a:t>
            </a:r>
            <a:r>
              <a:rPr lang="en-US" sz="3200" dirty="0" smtClean="0">
                <a:solidFill>
                  <a:schemeClr val="bg1"/>
                </a:solidFill>
              </a:rPr>
              <a:t> </a:t>
            </a:r>
            <a:r>
              <a:rPr lang="en-US" sz="3200" dirty="0" smtClean="0">
                <a:solidFill>
                  <a:schemeClr val="bg1"/>
                </a:solidFill>
              </a:rPr>
              <a:t>– Cash Flow Statement 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4" name="Image 13" descr="business-school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660" y="260648"/>
            <a:ext cx="5818670" cy="1565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004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eur droit 2"/>
          <p:cNvCxnSpPr/>
          <p:nvPr/>
        </p:nvCxnSpPr>
        <p:spPr>
          <a:xfrm>
            <a:off x="611560" y="1124744"/>
            <a:ext cx="0" cy="144016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ous-titre 1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12" name="Titre 1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fr-FR" dirty="0" smtClean="0"/>
              <a:t> STRUCTURE OF CASH FLOW STATEMENT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44393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Structure </a:t>
            </a:r>
            <a:r>
              <a:rPr lang="en-GB" dirty="0" smtClean="0"/>
              <a:t>of Cash Flow Statement</a:t>
            </a:r>
            <a:endParaRPr lang="en-GB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 smtClean="0">
                <a:latin typeface="+mj-lt"/>
                <a:cs typeface="Times New Roman" pitchFamily="18" charset="0"/>
              </a:rPr>
              <a:t>It is vital to split the cash flow statement between operating activities</a:t>
            </a:r>
            <a:r>
              <a:rPr lang="en-GB" dirty="0" smtClean="0">
                <a:solidFill>
                  <a:srgbClr val="000000"/>
                </a:solidFill>
                <a:latin typeface="+mj-lt"/>
                <a:cs typeface="Times New Roman" pitchFamily="18" charset="0"/>
              </a:rPr>
              <a:t>, investing activities and financing activities. </a:t>
            </a:r>
          </a:p>
          <a:p>
            <a:pPr algn="just"/>
            <a:r>
              <a:rPr lang="fr-FR" dirty="0" smtClean="0">
                <a:solidFill>
                  <a:srgbClr val="000000"/>
                </a:solidFill>
                <a:latin typeface="+mj-lt"/>
                <a:cs typeface="Times New Roman" pitchFamily="18" charset="0"/>
              </a:rPr>
              <a:t>This </a:t>
            </a:r>
            <a:r>
              <a:rPr lang="fr-FR" dirty="0" err="1" smtClean="0">
                <a:solidFill>
                  <a:srgbClr val="000000"/>
                </a:solidFill>
                <a:latin typeface="+mj-lt"/>
                <a:cs typeface="Times New Roman" pitchFamily="18" charset="0"/>
              </a:rPr>
              <a:t>is</a:t>
            </a:r>
            <a:r>
              <a:rPr lang="fr-FR" dirty="0" smtClean="0">
                <a:solidFill>
                  <a:srgbClr val="000000"/>
                </a:solidFill>
                <a:latin typeface="+mj-lt"/>
                <a:cs typeface="Times New Roman" pitchFamily="18" charset="0"/>
              </a:rPr>
              <a:t> a </a:t>
            </a:r>
            <a:r>
              <a:rPr lang="fr-FR" dirty="0" err="1" smtClean="0">
                <a:solidFill>
                  <a:srgbClr val="000000"/>
                </a:solidFill>
                <a:latin typeface="+mj-lt"/>
                <a:cs typeface="Times New Roman" pitchFamily="18" charset="0"/>
              </a:rPr>
              <a:t>requirement</a:t>
            </a:r>
            <a:r>
              <a:rPr lang="fr-FR" dirty="0" smtClean="0">
                <a:solidFill>
                  <a:srgbClr val="000000"/>
                </a:solidFill>
                <a:latin typeface="+mj-lt"/>
                <a:cs typeface="Times New Roman" pitchFamily="18" charset="0"/>
              </a:rPr>
              <a:t> of </a:t>
            </a:r>
            <a:r>
              <a:rPr lang="fr-FR" dirty="0" err="1" smtClean="0">
                <a:solidFill>
                  <a:srgbClr val="000000"/>
                </a:solidFill>
                <a:latin typeface="+mj-lt"/>
                <a:cs typeface="Times New Roman" pitchFamily="18" charset="0"/>
              </a:rPr>
              <a:t>both</a:t>
            </a:r>
            <a:r>
              <a:rPr lang="fr-FR" dirty="0" smtClean="0">
                <a:solidFill>
                  <a:srgbClr val="000000"/>
                </a:solidFill>
                <a:latin typeface="+mj-lt"/>
                <a:cs typeface="Times New Roman" pitchFamily="18" charset="0"/>
              </a:rPr>
              <a:t> GAAP and IFRS</a:t>
            </a:r>
            <a:endParaRPr lang="en-GB" dirty="0" smtClean="0">
              <a:latin typeface="+mj-lt"/>
              <a:cs typeface="Times New Roman" pitchFamily="18" charset="0"/>
            </a:endParaRPr>
          </a:p>
          <a:p>
            <a:pPr algn="just"/>
            <a:r>
              <a:rPr lang="en-GB" dirty="0" smtClean="0">
                <a:latin typeface="+mj-lt"/>
                <a:cs typeface="Times New Roman" pitchFamily="18" charset="0"/>
              </a:rPr>
              <a:t>The classification of certain operations is sometimes difficult.</a:t>
            </a:r>
          </a:p>
          <a:p>
            <a:pPr>
              <a:buNone/>
            </a:pPr>
            <a:endParaRPr lang="en-GB" dirty="0">
              <a:latin typeface="+mj-lt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4CEAFB-1FFD-4912-9039-956D1E0B9EF1}" type="slidenum">
              <a:rPr lang="fr-FR" smtClean="0"/>
              <a:pPr>
                <a:defRPr/>
              </a:pPr>
              <a:t>3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r>
              <a:rPr lang="en-GB" dirty="0" smtClean="0"/>
              <a:t>Content of the Cash Flow Statement </a:t>
            </a:r>
            <a:endParaRPr lang="en-GB" dirty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5339180"/>
              </p:ext>
            </p:extLst>
          </p:nvPr>
        </p:nvGraphicFramePr>
        <p:xfrm>
          <a:off x="457200" y="1600200"/>
          <a:ext cx="8229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80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1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GB" b="0" kern="12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Net cash flows</a:t>
                      </a:r>
                      <a:r>
                        <a:rPr kumimoji="0" lang="en-GB" b="0" kern="1200" baseline="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from operating activities</a:t>
                      </a:r>
                      <a:endParaRPr kumimoji="0" lang="en-GB" b="0" kern="1200" noProof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GB" b="0" kern="12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b="0" kern="12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Net cash flows from investing activities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 smtClean="0"/>
                        <a:t>B</a:t>
                      </a:r>
                      <a:endParaRPr lang="en-GB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b="0" kern="12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Net cash flows from financing activities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 smtClean="0"/>
                        <a:t>C</a:t>
                      </a:r>
                      <a:endParaRPr lang="en-GB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noProof="0" dirty="0" smtClean="0"/>
                        <a:t>Net change in cash and cash equivalents</a:t>
                      </a:r>
                      <a:endParaRPr lang="en-GB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 smtClean="0"/>
                        <a:t>D=A+B+C</a:t>
                      </a:r>
                      <a:endParaRPr lang="en-GB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noProof="0" dirty="0" smtClean="0"/>
                        <a:t>Cash and cash equivalents at beginning of period </a:t>
                      </a:r>
                      <a:endParaRPr lang="en-GB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 smtClean="0"/>
                        <a:t>E</a:t>
                      </a:r>
                      <a:endParaRPr lang="en-GB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noProof="0" dirty="0" smtClean="0"/>
                        <a:t>Cash</a:t>
                      </a:r>
                      <a:r>
                        <a:rPr lang="en-GB" baseline="0" noProof="0" dirty="0" smtClean="0"/>
                        <a:t> and cash equivalents at end of period </a:t>
                      </a:r>
                      <a:endParaRPr lang="en-GB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 smtClean="0"/>
                        <a:t>F=D+E</a:t>
                      </a:r>
                      <a:endParaRPr lang="en-GB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4CEAFB-1FFD-4912-9039-956D1E0B9EF1}" type="slidenum">
              <a:rPr lang="fr-FR" smtClean="0"/>
              <a:pPr>
                <a:defRPr/>
              </a:pPr>
              <a:t>4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GB" dirty="0" smtClean="0"/>
              <a:t>Classification of cash flows</a:t>
            </a:r>
            <a:endParaRPr lang="en-GB" dirty="0"/>
          </a:p>
        </p:txBody>
      </p:sp>
      <p:graphicFrame>
        <p:nvGraphicFramePr>
          <p:cNvPr id="4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9084858"/>
              </p:ext>
            </p:extLst>
          </p:nvPr>
        </p:nvGraphicFramePr>
        <p:xfrm>
          <a:off x="500034" y="1282392"/>
          <a:ext cx="8229600" cy="5587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1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6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284"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GB" kern="12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ACTIVITES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GB" kern="12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INCOME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GB" kern="12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EXPENSES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8739">
                <a:tc>
                  <a:txBody>
                    <a:bodyPr/>
                    <a:lstStyle/>
                    <a:p>
                      <a:r>
                        <a:rPr lang="en-GB" noProof="0" dirty="0" smtClean="0"/>
                        <a:t>Operating activities</a:t>
                      </a:r>
                      <a:endParaRPr lang="en-GB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GB" noProof="0" dirty="0" smtClean="0"/>
                        <a:t> Sales</a:t>
                      </a:r>
                      <a:r>
                        <a:rPr lang="en-GB" baseline="0" noProof="0" dirty="0" smtClean="0"/>
                        <a:t> of goods &amp; services to customers</a:t>
                      </a:r>
                      <a:endParaRPr lang="en-GB" noProof="0" dirty="0" smtClean="0"/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GB" noProof="0" dirty="0" smtClean="0"/>
                        <a:t> Royalties, fees,</a:t>
                      </a:r>
                      <a:r>
                        <a:rPr lang="en-GB" baseline="0" noProof="0" dirty="0" smtClean="0"/>
                        <a:t> </a:t>
                      </a:r>
                      <a:r>
                        <a:rPr lang="en-GB" noProof="0" dirty="0" smtClean="0"/>
                        <a:t>commissions and</a:t>
                      </a:r>
                      <a:r>
                        <a:rPr lang="en-GB" baseline="0" noProof="0" dirty="0" smtClean="0"/>
                        <a:t> other income</a:t>
                      </a:r>
                      <a:endParaRPr lang="en-GB" noProof="0" dirty="0" smtClean="0"/>
                    </a:p>
                    <a:p>
                      <a:pPr>
                        <a:buFont typeface="Arial" pitchFamily="34" charset="0"/>
                        <a:buNone/>
                      </a:pPr>
                      <a:endParaRPr lang="en-GB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GB" noProof="0" dirty="0" smtClean="0"/>
                        <a:t> Purchase</a:t>
                      </a:r>
                      <a:r>
                        <a:rPr lang="en-GB" baseline="0" noProof="0" dirty="0" smtClean="0"/>
                        <a:t>s of goods and services</a:t>
                      </a:r>
                      <a:endParaRPr lang="en-GB" noProof="0" dirty="0" smtClean="0"/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GB" noProof="0" dirty="0" smtClean="0"/>
                        <a:t> Wages</a:t>
                      </a:r>
                      <a:r>
                        <a:rPr lang="en-GB" baseline="0" noProof="0" dirty="0" smtClean="0"/>
                        <a:t> and expenses on salaries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GB" baseline="0" noProof="0" dirty="0" smtClean="0"/>
                        <a:t> Royalties, fees, commissions paid</a:t>
                      </a:r>
                      <a:endParaRPr lang="en-GB" noProof="0" dirty="0" smtClean="0"/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GB" noProof="0" dirty="0" smtClean="0"/>
                        <a:t> Taxes paid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4793">
                <a:tc>
                  <a:txBody>
                    <a:bodyPr/>
                    <a:lstStyle/>
                    <a:p>
                      <a:r>
                        <a:rPr lang="en-GB" noProof="0" dirty="0" smtClean="0"/>
                        <a:t>Investing activities</a:t>
                      </a:r>
                      <a:endParaRPr lang="en-GB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GB" noProof="0" dirty="0" smtClean="0"/>
                        <a:t> Disposals</a:t>
                      </a:r>
                      <a:r>
                        <a:rPr lang="en-GB" baseline="0" noProof="0" dirty="0" smtClean="0"/>
                        <a:t> of fixed assets </a:t>
                      </a:r>
                      <a:r>
                        <a:rPr lang="en-GB" noProof="0" dirty="0" smtClean="0"/>
                        <a:t>(intangible, tangible and financial</a:t>
                      </a:r>
                      <a:r>
                        <a:rPr lang="en-GB" noProof="0" dirty="0" smtClean="0"/>
                        <a:t>)</a:t>
                      </a:r>
                      <a:endParaRPr lang="en-GB" noProof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GB" noProof="0" dirty="0" smtClean="0"/>
                        <a:t> Acquisitions of fixed assets (intangible, tangible and financial)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endParaRPr lang="en-GB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0144">
                <a:tc>
                  <a:txBody>
                    <a:bodyPr/>
                    <a:lstStyle/>
                    <a:p>
                      <a:r>
                        <a:rPr lang="en-GB" noProof="0" dirty="0" smtClean="0"/>
                        <a:t>Financing activities</a:t>
                      </a:r>
                      <a:endParaRPr lang="en-GB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GB" noProof="0" dirty="0" smtClean="0"/>
                        <a:t> Revenue from share issues</a:t>
                      </a:r>
                      <a:r>
                        <a:rPr lang="en-GB" baseline="0" noProof="0" dirty="0" smtClean="0"/>
                        <a:t> or other instruments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GB" baseline="0" noProof="0" dirty="0" smtClean="0"/>
                        <a:t> Revenue from selling own shares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GB" baseline="0" noProof="0" dirty="0" smtClean="0"/>
                        <a:t> Borrowings</a:t>
                      </a:r>
                      <a:endParaRPr lang="en-GB" noProof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GB" noProof="0" dirty="0" smtClean="0"/>
                        <a:t>Repayment o</a:t>
                      </a:r>
                      <a:r>
                        <a:rPr lang="en-GB" baseline="0" noProof="0" dirty="0" smtClean="0"/>
                        <a:t>f shares 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GB" baseline="0" noProof="0" dirty="0" smtClean="0"/>
                        <a:t>Repayment of debt 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GB" baseline="0" noProof="0" dirty="0" smtClean="0"/>
                        <a:t>Dividends paid </a:t>
                      </a:r>
                      <a:endParaRPr lang="en-GB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4CEAFB-1FFD-4912-9039-956D1E0B9EF1}" type="slidenum">
              <a:rPr lang="fr-FR" smtClean="0"/>
              <a:pPr>
                <a:defRPr/>
              </a:pPr>
              <a:t>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 smtClean="0"/>
              <a:t>Cash and cash equivalents </a:t>
            </a:r>
            <a:endParaRPr lang="en-GB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fr-FR" b="1" dirty="0" smtClean="0"/>
              <a:t>The </a:t>
            </a:r>
            <a:r>
              <a:rPr lang="fr-FR" b="1" dirty="0" err="1" smtClean="0"/>
              <a:t>start</a:t>
            </a:r>
            <a:r>
              <a:rPr lang="fr-FR" b="1" dirty="0" smtClean="0"/>
              <a:t> and end figure </a:t>
            </a:r>
            <a:r>
              <a:rPr lang="fr-FR" b="1" dirty="0" err="1" smtClean="0"/>
              <a:t>is</a:t>
            </a:r>
            <a:r>
              <a:rPr lang="fr-FR" b="1" dirty="0" smtClean="0"/>
              <a:t> cash.</a:t>
            </a:r>
            <a:endParaRPr lang="en-GB" b="1" dirty="0" smtClean="0"/>
          </a:p>
          <a:p>
            <a:pPr>
              <a:buNone/>
            </a:pPr>
            <a:r>
              <a:rPr lang="en-GB" b="1" dirty="0" smtClean="0"/>
              <a:t>Definition of cash: </a:t>
            </a:r>
          </a:p>
          <a:p>
            <a:pPr lvl="1" algn="just"/>
            <a:r>
              <a:rPr lang="en-GB" dirty="0" smtClean="0"/>
              <a:t>Cash comprises cash on hand and demand deposit</a:t>
            </a:r>
          </a:p>
          <a:p>
            <a:pPr lvl="1" algn="just"/>
            <a:r>
              <a:rPr lang="en-GB" dirty="0" smtClean="0"/>
              <a:t>Cash equivalents are </a:t>
            </a:r>
            <a:r>
              <a:rPr lang="en-GB" u="sng" dirty="0" smtClean="0"/>
              <a:t>short-term</a:t>
            </a:r>
            <a:r>
              <a:rPr lang="en-GB" dirty="0" smtClean="0"/>
              <a:t>, highly </a:t>
            </a:r>
            <a:r>
              <a:rPr lang="en-GB" u="sng" dirty="0" smtClean="0"/>
              <a:t>liquid</a:t>
            </a:r>
            <a:r>
              <a:rPr lang="en-GB" dirty="0" smtClean="0"/>
              <a:t> investments that are </a:t>
            </a:r>
            <a:r>
              <a:rPr lang="en-GB" u="sng" dirty="0" smtClean="0"/>
              <a:t>readily convertible</a:t>
            </a:r>
            <a:r>
              <a:rPr lang="en-GB" dirty="0" smtClean="0"/>
              <a:t> to known amount of cash and which are subject to an </a:t>
            </a:r>
            <a:r>
              <a:rPr lang="en-GB" u="sng" dirty="0" smtClean="0"/>
              <a:t>insignificant risk of changes in value </a:t>
            </a:r>
            <a:r>
              <a:rPr lang="en-GB" dirty="0" smtClean="0"/>
              <a:t>(IAS 7)</a:t>
            </a:r>
          </a:p>
          <a:p>
            <a:pPr>
              <a:buNone/>
            </a:pPr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4CEAFB-1FFD-4912-9039-956D1E0B9EF1}" type="slidenum">
              <a:rPr lang="fr-FR" smtClean="0"/>
              <a:pPr>
                <a:defRPr/>
              </a:pPr>
              <a:t>6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eur droit 2"/>
          <p:cNvCxnSpPr/>
          <p:nvPr/>
        </p:nvCxnSpPr>
        <p:spPr>
          <a:xfrm>
            <a:off x="611560" y="1124744"/>
            <a:ext cx="0" cy="144016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ous-titre 1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12" name="Titre 1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buNone/>
            </a:pPr>
            <a:r>
              <a:rPr lang="fr-FR" dirty="0" smtClean="0"/>
              <a:t> CALCULATION OF CASH FLOWS FROM OPERATING ACTIVITIES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39972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r>
              <a:rPr lang="en-GB" dirty="0" smtClean="0"/>
              <a:t>3. Calculation of cash flows from operating activities</a:t>
            </a:r>
            <a:endParaRPr lang="en-GB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GB" sz="2800" dirty="0" smtClean="0">
                <a:latin typeface="+mj-lt"/>
                <a:cs typeface="Times New Roman" pitchFamily="18" charset="0"/>
              </a:rPr>
              <a:t>Two methods:</a:t>
            </a:r>
          </a:p>
          <a:p>
            <a:pPr lvl="1">
              <a:lnSpc>
                <a:spcPct val="80000"/>
              </a:lnSpc>
            </a:pPr>
            <a:r>
              <a:rPr lang="en-GB" dirty="0" smtClean="0">
                <a:latin typeface="+mj-lt"/>
                <a:cs typeface="Times New Roman" pitchFamily="18" charset="0"/>
              </a:rPr>
              <a:t>direct</a:t>
            </a:r>
          </a:p>
          <a:p>
            <a:pPr lvl="1">
              <a:lnSpc>
                <a:spcPct val="80000"/>
              </a:lnSpc>
            </a:pPr>
            <a:r>
              <a:rPr lang="en-GB" dirty="0" smtClean="0">
                <a:latin typeface="+mj-lt"/>
                <a:cs typeface="Times New Roman" pitchFamily="18" charset="0"/>
              </a:rPr>
              <a:t>Indirect</a:t>
            </a:r>
          </a:p>
          <a:p>
            <a:pPr lvl="1">
              <a:lnSpc>
                <a:spcPct val="80000"/>
              </a:lnSpc>
            </a:pPr>
            <a:endParaRPr lang="en-GB" dirty="0" smtClean="0">
              <a:latin typeface="+mj-lt"/>
              <a:cs typeface="Times New Roman" pitchFamily="18" charset="0"/>
            </a:endParaRPr>
          </a:p>
          <a:p>
            <a:pPr algn="just">
              <a:lnSpc>
                <a:spcPct val="80000"/>
              </a:lnSpc>
            </a:pPr>
            <a:r>
              <a:rPr lang="en-GB" sz="2800" dirty="0" smtClean="0">
                <a:latin typeface="+mj-lt"/>
                <a:cs typeface="Times New Roman" pitchFamily="18" charset="0"/>
              </a:rPr>
              <a:t>IFRS : </a:t>
            </a:r>
            <a:r>
              <a:rPr lang="en-GB" sz="2800" dirty="0">
                <a:latin typeface="+mj-lt"/>
                <a:cs typeface="Times New Roman" pitchFamily="18" charset="0"/>
              </a:rPr>
              <a:t>R</a:t>
            </a:r>
            <a:r>
              <a:rPr lang="en-GB" sz="2800" dirty="0" smtClean="0">
                <a:latin typeface="+mj-lt"/>
                <a:cs typeface="Times New Roman" pitchFamily="18" charset="0"/>
              </a:rPr>
              <a:t>ecommends the direct method, while allowing the indirect method</a:t>
            </a:r>
          </a:p>
          <a:p>
            <a:pPr algn="just">
              <a:lnSpc>
                <a:spcPct val="80000"/>
              </a:lnSpc>
            </a:pPr>
            <a:endParaRPr lang="en-GB" sz="2800" dirty="0" smtClean="0">
              <a:latin typeface="+mj-lt"/>
              <a:cs typeface="Times New Roman" pitchFamily="18" charset="0"/>
            </a:endParaRPr>
          </a:p>
          <a:p>
            <a:pPr algn="just">
              <a:lnSpc>
                <a:spcPct val="80000"/>
              </a:lnSpc>
            </a:pPr>
            <a:r>
              <a:rPr lang="en-GB" sz="2800" dirty="0" smtClean="0">
                <a:latin typeface="+mj-lt"/>
                <a:cs typeface="Times New Roman" pitchFamily="18" charset="0"/>
              </a:rPr>
              <a:t>GAAP : </a:t>
            </a:r>
            <a:r>
              <a:rPr lang="en-GB" sz="2800" dirty="0" err="1" smtClean="0">
                <a:latin typeface="+mj-lt"/>
                <a:cs typeface="Times New Roman" pitchFamily="18" charset="0"/>
              </a:rPr>
              <a:t>Compulsary</a:t>
            </a:r>
            <a:r>
              <a:rPr lang="en-GB" sz="2800" dirty="0" smtClean="0">
                <a:latin typeface="+mj-lt"/>
                <a:cs typeface="Times New Roman" pitchFamily="18" charset="0"/>
              </a:rPr>
              <a:t> to show operating activities using the indirect method. </a:t>
            </a:r>
          </a:p>
          <a:p>
            <a:pPr>
              <a:buNone/>
            </a:pPr>
            <a:endParaRPr lang="en-GB" dirty="0">
              <a:latin typeface="+mj-lt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4CEAFB-1FFD-4912-9039-956D1E0B9EF1}" type="slidenum">
              <a:rPr lang="fr-FR" smtClean="0"/>
              <a:pPr>
                <a:defRPr/>
              </a:pPr>
              <a:t>8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9228" y="275033"/>
            <a:ext cx="8460432" cy="633687"/>
          </a:xfrm>
        </p:spPr>
        <p:txBody>
          <a:bodyPr/>
          <a:lstStyle/>
          <a:p>
            <a:pPr algn="ctr"/>
            <a:r>
              <a:rPr lang="en-GB" sz="3200" dirty="0" smtClean="0"/>
              <a:t>The </a:t>
            </a:r>
            <a:r>
              <a:rPr lang="en-GB" sz="3200" dirty="0"/>
              <a:t>direct method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8450088" y="6376243"/>
            <a:ext cx="586408" cy="365125"/>
          </a:xfrm>
        </p:spPr>
        <p:txBody>
          <a:bodyPr/>
          <a:lstStyle/>
          <a:p>
            <a:fld id="{307C7597-8D70-4701-8085-9524B0B5C72B}" type="slidenum">
              <a:rPr lang="fr-FR" smtClean="0"/>
              <a:t>9</a:t>
            </a:fld>
            <a:endParaRPr lang="fr-FR" dirty="0"/>
          </a:p>
        </p:txBody>
      </p:sp>
      <p:sp>
        <p:nvSpPr>
          <p:cNvPr id="4" name="Espace réservé du contenu 2"/>
          <p:cNvSpPr>
            <a:spLocks noGrp="1"/>
          </p:cNvSpPr>
          <p:nvPr>
            <p:ph idx="1"/>
          </p:nvPr>
        </p:nvSpPr>
        <p:spPr>
          <a:xfrm>
            <a:off x="251520" y="1052736"/>
            <a:ext cx="8229600" cy="5472608"/>
          </a:xfrm>
        </p:spPr>
        <p:txBody>
          <a:bodyPr/>
          <a:lstStyle/>
          <a:p>
            <a:pPr marL="0" indent="0" algn="just">
              <a:buNone/>
            </a:pPr>
            <a:r>
              <a:rPr lang="en-GB" sz="2400" dirty="0" smtClean="0"/>
              <a:t>The direct method calculates cash flow by grouping them into categories of operations. </a:t>
            </a:r>
            <a:endParaRPr lang="en-GB" sz="2400" dirty="0"/>
          </a:p>
          <a:p>
            <a:pPr marL="0" indent="0" algn="just">
              <a:buNone/>
            </a:pPr>
            <a:r>
              <a:rPr lang="en-GB" sz="2400" dirty="0" smtClean="0"/>
              <a:t>It presents the revenues and expenditures separately for each category: sales, purchases, labour, etc.</a:t>
            </a:r>
          </a:p>
          <a:p>
            <a:pPr marL="271463" indent="0" algn="just">
              <a:buNone/>
            </a:pPr>
            <a:endParaRPr lang="en-GB" sz="2400" dirty="0" smtClean="0"/>
          </a:p>
          <a:p>
            <a:pPr>
              <a:buNone/>
            </a:pPr>
            <a:r>
              <a:rPr lang="en-GB" sz="2400" b="1" dirty="0"/>
              <a:t>The direct method includes 2 variants:</a:t>
            </a:r>
          </a:p>
          <a:p>
            <a:pPr algn="just"/>
            <a:r>
              <a:rPr lang="en-GB" sz="2400" b="1" dirty="0"/>
              <a:t>An integral direct method </a:t>
            </a:r>
            <a:r>
              <a:rPr lang="en-GB" sz="2400" dirty="0"/>
              <a:t>where flows are recognised directly in the cash flow </a:t>
            </a:r>
            <a:r>
              <a:rPr lang="en-GB" sz="2400" dirty="0" smtClean="0"/>
              <a:t>statement</a:t>
            </a:r>
            <a:endParaRPr lang="en-GB" sz="2400" dirty="0"/>
          </a:p>
          <a:p>
            <a:pPr algn="just"/>
            <a:r>
              <a:rPr lang="en-GB" sz="2400" b="1" dirty="0"/>
              <a:t>A semi-direct method </a:t>
            </a:r>
            <a:r>
              <a:rPr lang="en-GB" sz="2400" dirty="0"/>
              <a:t>where flows are adjusted </a:t>
            </a:r>
            <a:r>
              <a:rPr lang="en-GB" sz="2400" dirty="0" smtClean="0"/>
              <a:t>for </a:t>
            </a:r>
            <a:r>
              <a:rPr lang="en-GB" sz="2400" dirty="0"/>
              <a:t>changes in inventories, receivables and payables in order to calculate flows for the period.</a:t>
            </a:r>
          </a:p>
          <a:p>
            <a:pPr marL="271463" indent="0" algn="just">
              <a:buNone/>
            </a:pPr>
            <a:endParaRPr lang="en-GB" sz="2400" dirty="0" smtClean="0"/>
          </a:p>
        </p:txBody>
      </p:sp>
    </p:spTree>
    <p:extLst>
      <p:ext uri="{BB962C8B-B14F-4D97-AF65-F5344CB8AC3E}">
        <p14:creationId xmlns:p14="http://schemas.microsoft.com/office/powerpoint/2010/main" val="3057681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9228" y="275033"/>
            <a:ext cx="8460432" cy="633687"/>
          </a:xfrm>
        </p:spPr>
        <p:txBody>
          <a:bodyPr/>
          <a:lstStyle/>
          <a:p>
            <a:pPr algn="ctr"/>
            <a:r>
              <a:rPr lang="en-GB" sz="3200" dirty="0" smtClean="0"/>
              <a:t>Integral direct </a:t>
            </a:r>
            <a:r>
              <a:rPr lang="en-GB" sz="3200" dirty="0"/>
              <a:t>method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8450088" y="6376243"/>
            <a:ext cx="586408" cy="365125"/>
          </a:xfrm>
        </p:spPr>
        <p:txBody>
          <a:bodyPr/>
          <a:lstStyle/>
          <a:p>
            <a:fld id="{307C7597-8D70-4701-8085-9524B0B5C72B}" type="slidenum">
              <a:rPr lang="fr-FR" smtClean="0"/>
              <a:t>10</a:t>
            </a:fld>
            <a:endParaRPr lang="fr-FR" dirty="0"/>
          </a:p>
        </p:txBody>
      </p:sp>
      <p:sp>
        <p:nvSpPr>
          <p:cNvPr id="4" name="Espace réservé du contenu 2"/>
          <p:cNvSpPr>
            <a:spLocks noGrp="1"/>
          </p:cNvSpPr>
          <p:nvPr>
            <p:ph idx="1"/>
          </p:nvPr>
        </p:nvSpPr>
        <p:spPr>
          <a:xfrm>
            <a:off x="251520" y="1052736"/>
            <a:ext cx="8229600" cy="5472608"/>
          </a:xfrm>
        </p:spPr>
        <p:txBody>
          <a:bodyPr/>
          <a:lstStyle/>
          <a:p>
            <a:pPr algn="just"/>
            <a:r>
              <a:rPr lang="en-GB" sz="2400" b="1" dirty="0" smtClean="0"/>
              <a:t>An integral ‘true’ </a:t>
            </a:r>
            <a:r>
              <a:rPr lang="en-GB" sz="2400" b="1" dirty="0"/>
              <a:t>direct method </a:t>
            </a:r>
            <a:r>
              <a:rPr lang="en-GB" sz="2400" dirty="0"/>
              <a:t>where flows are recognised directly in the cash flow statement </a:t>
            </a:r>
            <a:endParaRPr lang="en-GB" sz="2400" dirty="0" smtClean="0"/>
          </a:p>
          <a:p>
            <a:pPr algn="just"/>
            <a:r>
              <a:rPr lang="en-GB" sz="2400" dirty="0" smtClean="0"/>
              <a:t>Reporting accounting </a:t>
            </a:r>
            <a:r>
              <a:rPr lang="en-GB" sz="2400" dirty="0"/>
              <a:t>registration of the movements of bank and cash accounts</a:t>
            </a:r>
            <a:r>
              <a:rPr lang="en-GB" sz="2400" dirty="0" smtClean="0"/>
              <a:t>.</a:t>
            </a:r>
          </a:p>
          <a:p>
            <a:pPr algn="just"/>
            <a:r>
              <a:rPr lang="fr-FR" sz="2400" dirty="0" smtClean="0"/>
              <a:t>Not </a:t>
            </a:r>
            <a:r>
              <a:rPr lang="fr-FR" sz="2400" dirty="0" err="1" smtClean="0"/>
              <a:t>used</a:t>
            </a:r>
            <a:r>
              <a:rPr lang="fr-FR" sz="2400" dirty="0" smtClean="0"/>
              <a:t> in practice</a:t>
            </a:r>
            <a:endParaRPr lang="en-GB" sz="2400" dirty="0"/>
          </a:p>
          <a:p>
            <a:pPr marL="271463" indent="0" algn="just">
              <a:buNone/>
            </a:pPr>
            <a:endParaRPr lang="en-GB" sz="2400" dirty="0" smtClean="0"/>
          </a:p>
        </p:txBody>
      </p:sp>
    </p:spTree>
    <p:extLst>
      <p:ext uri="{BB962C8B-B14F-4D97-AF65-F5344CB8AC3E}">
        <p14:creationId xmlns:p14="http://schemas.microsoft.com/office/powerpoint/2010/main" val="3348540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9228" y="275033"/>
            <a:ext cx="8460432" cy="633687"/>
          </a:xfrm>
        </p:spPr>
        <p:txBody>
          <a:bodyPr/>
          <a:lstStyle/>
          <a:p>
            <a:pPr algn="ctr"/>
            <a:r>
              <a:rPr lang="en-GB" sz="3200" dirty="0" smtClean="0"/>
              <a:t>Integral semi direct </a:t>
            </a:r>
            <a:r>
              <a:rPr lang="en-GB" sz="3200" dirty="0"/>
              <a:t>method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8450088" y="6376243"/>
            <a:ext cx="586408" cy="365125"/>
          </a:xfrm>
        </p:spPr>
        <p:txBody>
          <a:bodyPr/>
          <a:lstStyle/>
          <a:p>
            <a:fld id="{307C7597-8D70-4701-8085-9524B0B5C72B}" type="slidenum">
              <a:rPr lang="fr-FR" smtClean="0"/>
              <a:t>11</a:t>
            </a:fld>
            <a:endParaRPr lang="fr-FR" dirty="0"/>
          </a:p>
        </p:txBody>
      </p:sp>
      <p:sp>
        <p:nvSpPr>
          <p:cNvPr id="4" name="Espace réservé du contenu 2"/>
          <p:cNvSpPr>
            <a:spLocks noGrp="1"/>
          </p:cNvSpPr>
          <p:nvPr>
            <p:ph idx="1"/>
          </p:nvPr>
        </p:nvSpPr>
        <p:spPr>
          <a:xfrm>
            <a:off x="251520" y="1052736"/>
            <a:ext cx="8229600" cy="5472608"/>
          </a:xfrm>
        </p:spPr>
        <p:txBody>
          <a:bodyPr/>
          <a:lstStyle/>
          <a:p>
            <a:pPr marL="0" indent="0" algn="just">
              <a:buNone/>
            </a:pPr>
            <a:r>
              <a:rPr lang="fr-FR" sz="2400" b="1" u="sng" dirty="0" smtClean="0"/>
              <a:t>Cash in</a:t>
            </a:r>
          </a:p>
          <a:p>
            <a:pPr marL="0" indent="0" algn="just">
              <a:buNone/>
            </a:pPr>
            <a:r>
              <a:rPr lang="fr-FR" sz="2000" dirty="0" smtClean="0"/>
              <a:t>Cash </a:t>
            </a:r>
            <a:r>
              <a:rPr lang="fr-FR" sz="2000" dirty="0" err="1" smtClean="0"/>
              <a:t>from</a:t>
            </a:r>
            <a:r>
              <a:rPr lang="fr-FR" sz="2000" dirty="0" smtClean="0"/>
              <a:t> Sales = Sales + </a:t>
            </a:r>
            <a:r>
              <a:rPr lang="fr-FR" sz="2000" dirty="0" err="1" smtClean="0"/>
              <a:t>Opening</a:t>
            </a:r>
            <a:r>
              <a:rPr lang="fr-FR" sz="2000" dirty="0" smtClean="0"/>
              <a:t> A/R – </a:t>
            </a:r>
            <a:r>
              <a:rPr lang="fr-FR" sz="2000" dirty="0" err="1" smtClean="0"/>
              <a:t>Closing</a:t>
            </a:r>
            <a:r>
              <a:rPr lang="fr-FR" sz="2000" dirty="0" smtClean="0"/>
              <a:t> A/R</a:t>
            </a:r>
          </a:p>
          <a:p>
            <a:pPr algn="just"/>
            <a:endParaRPr lang="fr-FR" sz="2400" b="1" dirty="0"/>
          </a:p>
          <a:p>
            <a:pPr marL="0" indent="0" algn="just">
              <a:buNone/>
            </a:pPr>
            <a:r>
              <a:rPr lang="fr-FR" sz="2400" b="1" u="sng" dirty="0" smtClean="0"/>
              <a:t>Cash Out</a:t>
            </a:r>
          </a:p>
          <a:p>
            <a:pPr marL="0" indent="0" algn="just">
              <a:buNone/>
            </a:pPr>
            <a:r>
              <a:rPr lang="fr-FR" sz="2000" dirty="0" smtClean="0"/>
              <a:t>Cash to </a:t>
            </a:r>
            <a:r>
              <a:rPr lang="fr-FR" sz="2000" dirty="0" err="1" smtClean="0"/>
              <a:t>Suppliers</a:t>
            </a:r>
            <a:r>
              <a:rPr lang="fr-FR" sz="2000" dirty="0" smtClean="0"/>
              <a:t> = </a:t>
            </a:r>
            <a:r>
              <a:rPr lang="fr-FR" sz="2000" dirty="0" err="1" smtClean="0"/>
              <a:t>Purchases</a:t>
            </a:r>
            <a:r>
              <a:rPr lang="fr-FR" sz="2000" dirty="0" smtClean="0"/>
              <a:t> +</a:t>
            </a:r>
            <a:r>
              <a:rPr lang="fr-FR" sz="2000" dirty="0"/>
              <a:t> </a:t>
            </a:r>
            <a:r>
              <a:rPr lang="fr-FR" sz="2000" dirty="0" err="1" smtClean="0"/>
              <a:t>Opening</a:t>
            </a:r>
            <a:r>
              <a:rPr lang="fr-FR" sz="2000" dirty="0" smtClean="0"/>
              <a:t> A/P – </a:t>
            </a:r>
            <a:r>
              <a:rPr lang="fr-FR" sz="2000" dirty="0" err="1" smtClean="0"/>
              <a:t>Closing</a:t>
            </a:r>
            <a:r>
              <a:rPr lang="fr-FR" sz="2000" dirty="0" smtClean="0"/>
              <a:t> A/P</a:t>
            </a:r>
          </a:p>
          <a:p>
            <a:pPr marL="0" indent="0" algn="just">
              <a:buNone/>
            </a:pPr>
            <a:endParaRPr lang="fr-FR" sz="2400" dirty="0"/>
          </a:p>
          <a:p>
            <a:pPr marL="0" indent="0" algn="just">
              <a:buNone/>
            </a:pPr>
            <a:r>
              <a:rPr lang="fr-FR" sz="2400" dirty="0" smtClean="0"/>
              <a:t>Cash to </a:t>
            </a:r>
            <a:r>
              <a:rPr lang="fr-FR" sz="2400" dirty="0" err="1" smtClean="0"/>
              <a:t>others</a:t>
            </a:r>
            <a:r>
              <a:rPr lang="fr-FR" sz="2400" dirty="0" smtClean="0"/>
              <a:t> </a:t>
            </a:r>
            <a:r>
              <a:rPr lang="fr-FR" sz="2400" dirty="0" err="1" smtClean="0"/>
              <a:t>eg</a:t>
            </a:r>
            <a:r>
              <a:rPr lang="fr-FR" sz="2400" dirty="0" smtClean="0"/>
              <a:t> Labour, </a:t>
            </a:r>
            <a:r>
              <a:rPr lang="fr-FR" sz="2400" dirty="0" err="1" smtClean="0"/>
              <a:t>Overheads</a:t>
            </a:r>
            <a:r>
              <a:rPr lang="fr-FR" sz="2400" dirty="0" smtClean="0"/>
              <a:t>, </a:t>
            </a:r>
            <a:r>
              <a:rPr lang="fr-FR" sz="2400" dirty="0" err="1" smtClean="0"/>
              <a:t>Interest</a:t>
            </a:r>
            <a:r>
              <a:rPr lang="fr-FR" sz="2400" dirty="0" smtClean="0"/>
              <a:t>, </a:t>
            </a:r>
            <a:r>
              <a:rPr lang="fr-FR" sz="2400" dirty="0" err="1" smtClean="0"/>
              <a:t>Tax</a:t>
            </a:r>
            <a:r>
              <a:rPr lang="fr-FR" sz="2400" dirty="0" smtClean="0"/>
              <a:t> </a:t>
            </a:r>
            <a:r>
              <a:rPr lang="fr-FR" sz="2400" dirty="0" err="1" smtClean="0"/>
              <a:t>etc</a:t>
            </a:r>
            <a:endParaRPr lang="fr-FR" sz="2400" dirty="0" smtClean="0"/>
          </a:p>
          <a:p>
            <a:pPr marL="0" indent="0" algn="just">
              <a:buNone/>
            </a:pPr>
            <a:endParaRPr lang="fr-FR" sz="2400" dirty="0" smtClean="0"/>
          </a:p>
          <a:p>
            <a:pPr marL="0" indent="0" algn="just">
              <a:buNone/>
            </a:pPr>
            <a:r>
              <a:rPr lang="fr-FR" sz="2400" dirty="0" err="1" smtClean="0"/>
              <a:t>Other</a:t>
            </a:r>
            <a:r>
              <a:rPr lang="fr-FR" sz="2400" dirty="0" smtClean="0"/>
              <a:t> </a:t>
            </a:r>
            <a:r>
              <a:rPr lang="fr-FR" sz="2400" dirty="0" err="1" smtClean="0"/>
              <a:t>adjustments</a:t>
            </a:r>
            <a:r>
              <a:rPr lang="fr-FR" sz="2400" dirty="0" smtClean="0"/>
              <a:t> </a:t>
            </a:r>
            <a:r>
              <a:rPr lang="fr-FR" sz="2400" dirty="0" err="1" smtClean="0"/>
              <a:t>maybe</a:t>
            </a:r>
            <a:r>
              <a:rPr lang="fr-FR" sz="2400" dirty="0" smtClean="0"/>
              <a:t> </a:t>
            </a:r>
            <a:r>
              <a:rPr lang="fr-FR" sz="2400" dirty="0" err="1" smtClean="0"/>
              <a:t>necessary</a:t>
            </a:r>
            <a:r>
              <a:rPr lang="fr-FR" sz="2400" dirty="0" smtClean="0"/>
              <a:t> if </a:t>
            </a:r>
            <a:r>
              <a:rPr lang="fr-FR" sz="2400" dirty="0" err="1" smtClean="0"/>
              <a:t>there</a:t>
            </a:r>
            <a:r>
              <a:rPr lang="fr-FR" sz="2400" dirty="0" smtClean="0"/>
              <a:t> </a:t>
            </a:r>
            <a:r>
              <a:rPr lang="fr-FR" sz="2400" dirty="0" err="1" smtClean="0"/>
              <a:t>is</a:t>
            </a:r>
            <a:r>
              <a:rPr lang="fr-FR" sz="2400" dirty="0" smtClean="0"/>
              <a:t> a </a:t>
            </a:r>
            <a:r>
              <a:rPr lang="fr-FR" sz="2400" dirty="0" err="1" smtClean="0"/>
              <a:t>delay</a:t>
            </a:r>
            <a:r>
              <a:rPr lang="fr-FR" sz="2400" dirty="0" smtClean="0"/>
              <a:t> in </a:t>
            </a:r>
            <a:r>
              <a:rPr lang="fr-FR" sz="2400" dirty="0" err="1" smtClean="0"/>
              <a:t>payment</a:t>
            </a:r>
            <a:r>
              <a:rPr lang="fr-FR" sz="2400" dirty="0" smtClean="0"/>
              <a:t> (</a:t>
            </a:r>
            <a:r>
              <a:rPr lang="fr-FR" sz="2400" dirty="0" err="1" smtClean="0"/>
              <a:t>tax</a:t>
            </a:r>
            <a:r>
              <a:rPr lang="fr-FR" sz="2400" dirty="0" smtClean="0"/>
              <a:t> for </a:t>
            </a:r>
            <a:r>
              <a:rPr lang="fr-FR" sz="2400" dirty="0" err="1" smtClean="0"/>
              <a:t>example</a:t>
            </a:r>
            <a:r>
              <a:rPr lang="fr-FR" sz="2400" dirty="0" smtClean="0"/>
              <a:t>)</a:t>
            </a:r>
          </a:p>
          <a:p>
            <a:pPr marL="0" indent="0" algn="just">
              <a:buNone/>
            </a:pPr>
            <a:endParaRPr lang="fr-FR" sz="2400" dirty="0"/>
          </a:p>
          <a:p>
            <a:pPr marL="0" indent="0" algn="just">
              <a:buNone/>
            </a:pPr>
            <a:r>
              <a:rPr lang="fr-FR" sz="2400" dirty="0" smtClean="0"/>
              <a:t>Care </a:t>
            </a:r>
            <a:r>
              <a:rPr lang="fr-FR" sz="2400" dirty="0" err="1" smtClean="0"/>
              <a:t>needed</a:t>
            </a:r>
            <a:r>
              <a:rPr lang="fr-FR" sz="2400" dirty="0" smtClean="0"/>
              <a:t> : Do not </a:t>
            </a:r>
            <a:r>
              <a:rPr lang="fr-FR" sz="2400" dirty="0" err="1" smtClean="0"/>
              <a:t>include</a:t>
            </a:r>
            <a:r>
              <a:rPr lang="fr-FR" sz="2400" dirty="0" smtClean="0"/>
              <a:t> </a:t>
            </a:r>
            <a:r>
              <a:rPr lang="fr-FR" sz="2400" dirty="0" err="1" smtClean="0"/>
              <a:t>depreciation</a:t>
            </a:r>
            <a:r>
              <a:rPr lang="fr-FR" sz="2400" dirty="0" smtClean="0"/>
              <a:t> in the cash flow</a:t>
            </a:r>
          </a:p>
          <a:p>
            <a:pPr marL="0" indent="0" algn="just">
              <a:buNone/>
            </a:pPr>
            <a:endParaRPr lang="en-GB" sz="2400" dirty="0"/>
          </a:p>
          <a:p>
            <a:pPr marL="271463" indent="0" algn="just">
              <a:buNone/>
            </a:pPr>
            <a:endParaRPr lang="en-GB" sz="2400" dirty="0" smtClean="0"/>
          </a:p>
        </p:txBody>
      </p:sp>
    </p:spTree>
    <p:extLst>
      <p:ext uri="{BB962C8B-B14F-4D97-AF65-F5344CB8AC3E}">
        <p14:creationId xmlns:p14="http://schemas.microsoft.com/office/powerpoint/2010/main" val="1551820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9228" y="275033"/>
            <a:ext cx="8460432" cy="633687"/>
          </a:xfrm>
        </p:spPr>
        <p:txBody>
          <a:bodyPr/>
          <a:lstStyle/>
          <a:p>
            <a:pPr algn="ctr"/>
            <a:r>
              <a:rPr lang="en-GB" sz="3200" dirty="0" smtClean="0"/>
              <a:t> </a:t>
            </a:r>
            <a:r>
              <a:rPr lang="en-GB" sz="3200" dirty="0"/>
              <a:t>The </a:t>
            </a:r>
            <a:r>
              <a:rPr lang="en-GB" sz="3200" dirty="0" smtClean="0"/>
              <a:t>indirect </a:t>
            </a:r>
            <a:r>
              <a:rPr lang="en-GB" sz="3200" dirty="0"/>
              <a:t>method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8450088" y="6376243"/>
            <a:ext cx="586408" cy="365125"/>
          </a:xfrm>
        </p:spPr>
        <p:txBody>
          <a:bodyPr/>
          <a:lstStyle/>
          <a:p>
            <a:fld id="{307C7597-8D70-4701-8085-9524B0B5C72B}" type="slidenum">
              <a:rPr lang="fr-FR" smtClean="0"/>
              <a:t>12</a:t>
            </a:fld>
            <a:endParaRPr lang="fr-FR" dirty="0"/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>
          <a:xfrm>
            <a:off x="323528" y="1556793"/>
            <a:ext cx="8229600" cy="2952327"/>
          </a:xfrm>
        </p:spPr>
        <p:txBody>
          <a:bodyPr/>
          <a:lstStyle/>
          <a:p>
            <a:pPr marL="0" indent="0" algn="just">
              <a:buNone/>
            </a:pPr>
            <a:r>
              <a:rPr lang="en-GB" sz="3200" dirty="0" smtClean="0"/>
              <a:t>The indirect method consists of adjusting for the profit or loss of the period by returning to</a:t>
            </a:r>
          </a:p>
          <a:p>
            <a:pPr marL="514350" indent="-514350" algn="just">
              <a:buSzPct val="100000"/>
              <a:buFont typeface="+mj-lt"/>
              <a:buAutoNum type="arabicPeriod"/>
            </a:pPr>
            <a:r>
              <a:rPr lang="en-GB" sz="3200" dirty="0" smtClean="0"/>
              <a:t>expenses and income without cash impact and </a:t>
            </a:r>
          </a:p>
          <a:p>
            <a:pPr marL="514350" indent="-514350" algn="just">
              <a:buSzPct val="100000"/>
              <a:buFont typeface="+mj-lt"/>
              <a:buAutoNum type="arabicPeriod"/>
            </a:pPr>
            <a:r>
              <a:rPr lang="en-GB" sz="3200" dirty="0" smtClean="0"/>
              <a:t>changes in receivables, payables and </a:t>
            </a:r>
            <a:r>
              <a:rPr lang="en-GB" sz="3200" dirty="0"/>
              <a:t> </a:t>
            </a:r>
            <a:r>
              <a:rPr lang="en-GB" sz="3200" dirty="0" smtClean="0"/>
              <a:t>inventory plus other items of the working capital (requirement).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081227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9228" y="275033"/>
            <a:ext cx="8460432" cy="633687"/>
          </a:xfrm>
        </p:spPr>
        <p:txBody>
          <a:bodyPr/>
          <a:lstStyle/>
          <a:p>
            <a:pPr algn="ctr"/>
            <a:r>
              <a:rPr lang="en-GB" sz="3200" dirty="0" smtClean="0"/>
              <a:t>The </a:t>
            </a:r>
            <a:r>
              <a:rPr lang="en-GB" sz="3200" dirty="0" smtClean="0"/>
              <a:t>indirect </a:t>
            </a:r>
            <a:r>
              <a:rPr lang="en-GB" sz="3200" dirty="0"/>
              <a:t>method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8450088" y="6376243"/>
            <a:ext cx="586408" cy="365125"/>
          </a:xfrm>
        </p:spPr>
        <p:txBody>
          <a:bodyPr/>
          <a:lstStyle/>
          <a:p>
            <a:fld id="{307C7597-8D70-4701-8085-9524B0B5C72B}" type="slidenum">
              <a:rPr lang="fr-FR" smtClean="0"/>
              <a:t>13</a:t>
            </a:fld>
            <a:endParaRPr lang="fr-FR" dirty="0"/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>
          <a:xfrm>
            <a:off x="323528" y="1556793"/>
            <a:ext cx="8229600" cy="4392487"/>
          </a:xfrm>
        </p:spPr>
        <p:txBody>
          <a:bodyPr/>
          <a:lstStyle/>
          <a:p>
            <a:pPr marL="0" indent="0" algn="just">
              <a:buNone/>
            </a:pPr>
            <a:r>
              <a:rPr lang="en-GB" sz="2400" dirty="0" smtClean="0"/>
              <a:t>Operating Cash Flow =</a:t>
            </a:r>
          </a:p>
          <a:p>
            <a:pPr marL="0" indent="0" algn="just">
              <a:buNone/>
            </a:pPr>
            <a:endParaRPr lang="en-GB" sz="2400" dirty="0" smtClean="0"/>
          </a:p>
          <a:p>
            <a:pPr marL="0" indent="0" algn="just">
              <a:buNone/>
            </a:pPr>
            <a:r>
              <a:rPr lang="fr-FR" sz="2400" dirty="0" smtClean="0"/>
              <a:t>Net Profit + Non cash items – </a:t>
            </a:r>
            <a:r>
              <a:rPr lang="fr-FR" sz="2400" dirty="0" err="1" smtClean="0"/>
              <a:t>increase</a:t>
            </a:r>
            <a:r>
              <a:rPr lang="fr-FR" sz="2400" dirty="0" smtClean="0"/>
              <a:t> in </a:t>
            </a:r>
            <a:r>
              <a:rPr lang="fr-FR" sz="2400" dirty="0" err="1" smtClean="0"/>
              <a:t>Working</a:t>
            </a:r>
            <a:r>
              <a:rPr lang="fr-FR" sz="2400" dirty="0" smtClean="0"/>
              <a:t> Capital</a:t>
            </a:r>
          </a:p>
          <a:p>
            <a:pPr marL="0" indent="0" algn="just">
              <a:buNone/>
            </a:pPr>
            <a:endParaRPr lang="fr-FR" sz="2400" dirty="0"/>
          </a:p>
          <a:p>
            <a:pPr marL="0" indent="0" algn="just">
              <a:buNone/>
            </a:pPr>
            <a:r>
              <a:rPr lang="fr-FR" sz="2400" dirty="0" smtClean="0"/>
              <a:t>Notes: </a:t>
            </a:r>
          </a:p>
          <a:p>
            <a:pPr marL="0" indent="0" algn="just">
              <a:buNone/>
            </a:pPr>
            <a:r>
              <a:rPr lang="fr-FR" sz="2400" dirty="0" smtClean="0"/>
              <a:t>1 </a:t>
            </a:r>
            <a:r>
              <a:rPr lang="fr-FR" sz="2400" dirty="0" err="1" smtClean="0"/>
              <a:t>Depreciation</a:t>
            </a:r>
            <a:r>
              <a:rPr lang="fr-FR" sz="2400" dirty="0" smtClean="0"/>
              <a:t> </a:t>
            </a:r>
            <a:r>
              <a:rPr lang="fr-FR" sz="2400" dirty="0" err="1" smtClean="0"/>
              <a:t>is</a:t>
            </a:r>
            <a:r>
              <a:rPr lang="fr-FR" sz="2400" dirty="0" smtClean="0"/>
              <a:t> the main non cash  item</a:t>
            </a:r>
          </a:p>
          <a:p>
            <a:pPr marL="0" indent="0" algn="just">
              <a:buNone/>
            </a:pPr>
            <a:endParaRPr lang="fr-FR" sz="2400" dirty="0" smtClean="0"/>
          </a:p>
          <a:p>
            <a:pPr marL="0" indent="0" algn="just">
              <a:buNone/>
            </a:pPr>
            <a:r>
              <a:rPr lang="fr-FR" sz="2400" dirty="0" smtClean="0"/>
              <a:t>2 </a:t>
            </a:r>
            <a:r>
              <a:rPr lang="fr-FR" sz="2400" dirty="0" err="1" smtClean="0"/>
              <a:t>Working</a:t>
            </a:r>
            <a:r>
              <a:rPr lang="fr-FR" sz="2400" dirty="0" smtClean="0"/>
              <a:t> Capital </a:t>
            </a:r>
            <a:r>
              <a:rPr lang="fr-FR" sz="2400" dirty="0" err="1" smtClean="0"/>
              <a:t>refers</a:t>
            </a:r>
            <a:r>
              <a:rPr lang="fr-FR" sz="2400" dirty="0" smtClean="0"/>
              <a:t> to Inventory + </a:t>
            </a:r>
            <a:r>
              <a:rPr lang="fr-FR" sz="2400" dirty="0" err="1" smtClean="0"/>
              <a:t>Account</a:t>
            </a:r>
            <a:r>
              <a:rPr lang="fr-FR" sz="2400" dirty="0" smtClean="0"/>
              <a:t> </a:t>
            </a:r>
            <a:r>
              <a:rPr lang="fr-FR" sz="2400" dirty="0" err="1" smtClean="0"/>
              <a:t>Receivables</a:t>
            </a:r>
            <a:r>
              <a:rPr lang="fr-FR" sz="2400" dirty="0" smtClean="0"/>
              <a:t> – </a:t>
            </a:r>
            <a:r>
              <a:rPr lang="fr-FR" sz="2400" dirty="0" err="1" smtClean="0"/>
              <a:t>Account</a:t>
            </a:r>
            <a:r>
              <a:rPr lang="fr-FR" sz="2400" dirty="0" smtClean="0"/>
              <a:t> Payables</a:t>
            </a:r>
          </a:p>
          <a:p>
            <a:pPr marL="0" indent="0" algn="just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637760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eur droit 2"/>
          <p:cNvCxnSpPr/>
          <p:nvPr/>
        </p:nvCxnSpPr>
        <p:spPr>
          <a:xfrm>
            <a:off x="611560" y="1124744"/>
            <a:ext cx="0" cy="144016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ous-titre 1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sz="3600" dirty="0">
                <a:solidFill>
                  <a:srgbClr val="F6F9D1"/>
                </a:solidFill>
              </a:rPr>
              <a:t>Cash flows used for the development &amp; the renewal of assets / </a:t>
            </a:r>
            <a:r>
              <a:rPr lang="en-GB" sz="3600" dirty="0" smtClean="0">
                <a:solidFill>
                  <a:srgbClr val="F6F9D1"/>
                </a:solidFill>
              </a:rPr>
              <a:t>business</a:t>
            </a:r>
          </a:p>
          <a:p>
            <a:r>
              <a:rPr lang="fr-FR" sz="3600" dirty="0" smtClean="0">
                <a:solidFill>
                  <a:srgbClr val="F6F9D1"/>
                </a:solidFill>
              </a:rPr>
              <a:t>- </a:t>
            </a:r>
            <a:r>
              <a:rPr lang="fr-FR" sz="3600" dirty="0" err="1" smtClean="0">
                <a:solidFill>
                  <a:srgbClr val="F6F9D1"/>
                </a:solidFill>
              </a:rPr>
              <a:t>Any</a:t>
            </a:r>
            <a:r>
              <a:rPr lang="fr-FR" sz="3600" dirty="0" smtClean="0">
                <a:solidFill>
                  <a:srgbClr val="F6F9D1"/>
                </a:solidFill>
              </a:rPr>
              <a:t> </a:t>
            </a:r>
            <a:r>
              <a:rPr lang="fr-FR" sz="3600" dirty="0" err="1" smtClean="0">
                <a:solidFill>
                  <a:srgbClr val="F6F9D1"/>
                </a:solidFill>
              </a:rPr>
              <a:t>purchases</a:t>
            </a:r>
            <a:r>
              <a:rPr lang="fr-FR" sz="3600" dirty="0" smtClean="0">
                <a:solidFill>
                  <a:srgbClr val="F6F9D1"/>
                </a:solidFill>
              </a:rPr>
              <a:t> or sales of </a:t>
            </a:r>
            <a:r>
              <a:rPr lang="fr-FR" sz="3600" dirty="0" err="1" smtClean="0">
                <a:solidFill>
                  <a:srgbClr val="F6F9D1"/>
                </a:solidFill>
              </a:rPr>
              <a:t>fixed</a:t>
            </a:r>
            <a:r>
              <a:rPr lang="fr-FR" sz="3600" dirty="0" smtClean="0">
                <a:solidFill>
                  <a:srgbClr val="F6F9D1"/>
                </a:solidFill>
              </a:rPr>
              <a:t> </a:t>
            </a:r>
            <a:r>
              <a:rPr lang="fr-FR" sz="3600" dirty="0" err="1" smtClean="0">
                <a:solidFill>
                  <a:srgbClr val="F6F9D1"/>
                </a:solidFill>
              </a:rPr>
              <a:t>assets</a:t>
            </a:r>
            <a:endParaRPr lang="en-GB" sz="3600" dirty="0">
              <a:solidFill>
                <a:srgbClr val="F6F9D1"/>
              </a:solidFill>
            </a:endParaRPr>
          </a:p>
          <a:p>
            <a:endParaRPr lang="fr-FR" sz="3600" dirty="0"/>
          </a:p>
        </p:txBody>
      </p:sp>
      <p:sp>
        <p:nvSpPr>
          <p:cNvPr id="12" name="Titre 1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fr-FR" dirty="0" smtClean="0"/>
              <a:t> CASH FLOWS FROM INVESTING ACTIVITIES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85151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eur droit 2"/>
          <p:cNvCxnSpPr/>
          <p:nvPr/>
        </p:nvCxnSpPr>
        <p:spPr>
          <a:xfrm>
            <a:off x="611560" y="1124744"/>
            <a:ext cx="0" cy="144016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ous-titre 12"/>
          <p:cNvSpPr>
            <a:spLocks noGrp="1"/>
          </p:cNvSpPr>
          <p:nvPr>
            <p:ph type="subTitle" idx="1"/>
          </p:nvPr>
        </p:nvSpPr>
        <p:spPr>
          <a:xfrm>
            <a:off x="728907" y="1988840"/>
            <a:ext cx="8444588" cy="3528392"/>
          </a:xfrm>
        </p:spPr>
        <p:txBody>
          <a:bodyPr/>
          <a:lstStyle/>
          <a:p>
            <a:r>
              <a:rPr lang="en-US" sz="3200" dirty="0">
                <a:solidFill>
                  <a:schemeClr val="tx1"/>
                </a:solidFill>
              </a:rPr>
              <a:t>The cash flow of financing includes </a:t>
            </a:r>
            <a:r>
              <a:rPr lang="en-US" sz="3200" b="1" dirty="0">
                <a:solidFill>
                  <a:schemeClr val="tx1"/>
                </a:solidFill>
              </a:rPr>
              <a:t>all the operations carried out by the company to finance itself</a:t>
            </a:r>
            <a:r>
              <a:rPr lang="en-US" sz="3200" dirty="0">
                <a:solidFill>
                  <a:schemeClr val="tx1"/>
                </a:solidFill>
              </a:rPr>
              <a:t>. </a:t>
            </a:r>
          </a:p>
          <a:p>
            <a:endParaRPr lang="en-US" sz="3200" dirty="0"/>
          </a:p>
          <a:p>
            <a:r>
              <a:rPr lang="en-US" sz="3200" dirty="0"/>
              <a:t>These may include cash inflows: debt issuance, capital increase or cash outflows: payment of a coupon on debt, repayment of debt or dividends</a:t>
            </a:r>
          </a:p>
          <a:p>
            <a:endParaRPr lang="fr-FR" sz="3200" dirty="0"/>
          </a:p>
        </p:txBody>
      </p:sp>
      <p:sp>
        <p:nvSpPr>
          <p:cNvPr id="12" name="Titre 1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5"/>
            </a:pPr>
            <a:r>
              <a:rPr lang="fr-FR" dirty="0" smtClean="0"/>
              <a:t>CASH FLOWS FROM FINANCING  ACTIVITIES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4480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659F6F-5EC2-453E-ADDF-F4CFF454119B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3889484"/>
              </p:ext>
            </p:extLst>
          </p:nvPr>
        </p:nvGraphicFramePr>
        <p:xfrm>
          <a:off x="251520" y="2204864"/>
          <a:ext cx="2991335" cy="23762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85906">
                  <a:extLst>
                    <a:ext uri="{9D8B030D-6E8A-4147-A177-3AD203B41FA5}">
                      <a16:colId xmlns:a16="http://schemas.microsoft.com/office/drawing/2014/main" val="4027812380"/>
                    </a:ext>
                  </a:extLst>
                </a:gridCol>
                <a:gridCol w="905429">
                  <a:extLst>
                    <a:ext uri="{9D8B030D-6E8A-4147-A177-3AD203B41FA5}">
                      <a16:colId xmlns:a16="http://schemas.microsoft.com/office/drawing/2014/main" val="1757378001"/>
                    </a:ext>
                  </a:extLst>
                </a:gridCol>
              </a:tblGrid>
              <a:tr h="2913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l-GR" sz="1400" dirty="0">
                          <a:effectLst/>
                        </a:rPr>
                        <a:t>Sales 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30" marR="20955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892 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30" marR="20955" marT="0" marB="0"/>
                </a:tc>
                <a:extLst>
                  <a:ext uri="{0D108BD9-81ED-4DB2-BD59-A6C34878D82A}">
                    <a16:rowId xmlns:a16="http://schemas.microsoft.com/office/drawing/2014/main" val="3818056407"/>
                  </a:ext>
                </a:extLst>
              </a:tr>
              <a:tr h="2913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l-GR" sz="1400" dirty="0">
                          <a:effectLst/>
                        </a:rPr>
                        <a:t>Cost of goods sold  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30" marR="20955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272 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30" marR="20955" marT="0" marB="0"/>
                </a:tc>
                <a:extLst>
                  <a:ext uri="{0D108BD9-81ED-4DB2-BD59-A6C34878D82A}">
                    <a16:rowId xmlns:a16="http://schemas.microsoft.com/office/drawing/2014/main" val="1482954857"/>
                  </a:ext>
                </a:extLst>
              </a:tr>
              <a:tr h="2913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l-GR" sz="1400" dirty="0">
                          <a:effectLst/>
                        </a:rPr>
                        <a:t>Gross margin  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30" marR="20955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l-GR" sz="1400" dirty="0">
                          <a:effectLst/>
                        </a:rPr>
                        <a:t>620 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30" marR="20955" marT="0" marB="0"/>
                </a:tc>
                <a:extLst>
                  <a:ext uri="{0D108BD9-81ED-4DB2-BD59-A6C34878D82A}">
                    <a16:rowId xmlns:a16="http://schemas.microsoft.com/office/drawing/2014/main" val="2651933184"/>
                  </a:ext>
                </a:extLst>
              </a:tr>
              <a:tr h="2913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Operating expenses  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30" marR="20955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l-GR" sz="1400" dirty="0">
                          <a:effectLst/>
                        </a:rPr>
                        <a:t>414 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30" marR="20955" marT="0" marB="0"/>
                </a:tc>
                <a:extLst>
                  <a:ext uri="{0D108BD9-81ED-4DB2-BD59-A6C34878D82A}">
                    <a16:rowId xmlns:a16="http://schemas.microsoft.com/office/drawing/2014/main" val="3291812639"/>
                  </a:ext>
                </a:extLst>
              </a:tr>
              <a:tr h="5827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Income before income taxes  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30" marR="20955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l-GR" sz="1400" dirty="0">
                          <a:effectLst/>
                        </a:rPr>
                        <a:t>206 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30" marR="20955" marT="0" marB="0"/>
                </a:tc>
                <a:extLst>
                  <a:ext uri="{0D108BD9-81ED-4DB2-BD59-A6C34878D82A}">
                    <a16:rowId xmlns:a16="http://schemas.microsoft.com/office/drawing/2014/main" val="690200208"/>
                  </a:ext>
                </a:extLst>
              </a:tr>
              <a:tr h="291377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75"/>
                        </a:spcAft>
                      </a:pPr>
                      <a:r>
                        <a:rPr lang="en-US" sz="1400">
                          <a:effectLst/>
                        </a:rPr>
                        <a:t>Income tax expense  </a:t>
                      </a:r>
                      <a:endParaRPr lang="fr-FR" sz="11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u="sng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Net income</a:t>
                      </a:r>
                      <a:r>
                        <a:rPr lang="en-US" sz="1400">
                          <a:effectLst/>
                        </a:rPr>
                        <a:t>  	  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30" marR="20955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l-GR" sz="1400" dirty="0">
                          <a:effectLst/>
                        </a:rPr>
                        <a:t>60 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30" marR="20955" marT="0" marB="0"/>
                </a:tc>
                <a:extLst>
                  <a:ext uri="{0D108BD9-81ED-4DB2-BD59-A6C34878D82A}">
                    <a16:rowId xmlns:a16="http://schemas.microsoft.com/office/drawing/2014/main" val="3309559088"/>
                  </a:ext>
                </a:extLst>
              </a:tr>
              <a:tr h="336623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l-GR" sz="1400" dirty="0">
                          <a:effectLst/>
                        </a:rPr>
                        <a:t>146 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30" marR="20955" marT="0" marB="0"/>
                </a:tc>
                <a:extLst>
                  <a:ext uri="{0D108BD9-81ED-4DB2-BD59-A6C34878D82A}">
                    <a16:rowId xmlns:a16="http://schemas.microsoft.com/office/drawing/2014/main" val="3725010463"/>
                  </a:ext>
                </a:extLst>
              </a:tr>
            </a:tbl>
          </a:graphicData>
        </a:graphic>
      </p:graphicFrame>
      <p:graphicFrame>
        <p:nvGraphicFramePr>
          <p:cNvPr id="4" name="Tableau 3"/>
          <p:cNvGraphicFramePr>
            <a:graphicFrameLocks noGrp="1"/>
          </p:cNvGraphicFramePr>
          <p:nvPr/>
        </p:nvGraphicFramePr>
        <p:xfrm>
          <a:off x="3448595" y="1469403"/>
          <a:ext cx="5016137" cy="46376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33939">
                  <a:extLst>
                    <a:ext uri="{9D8B030D-6E8A-4147-A177-3AD203B41FA5}">
                      <a16:colId xmlns:a16="http://schemas.microsoft.com/office/drawing/2014/main" val="656335082"/>
                    </a:ext>
                  </a:extLst>
                </a:gridCol>
                <a:gridCol w="1241099">
                  <a:extLst>
                    <a:ext uri="{9D8B030D-6E8A-4147-A177-3AD203B41FA5}">
                      <a16:colId xmlns:a16="http://schemas.microsoft.com/office/drawing/2014/main" val="306981818"/>
                    </a:ext>
                  </a:extLst>
                </a:gridCol>
                <a:gridCol w="1241099">
                  <a:extLst>
                    <a:ext uri="{9D8B030D-6E8A-4147-A177-3AD203B41FA5}">
                      <a16:colId xmlns:a16="http://schemas.microsoft.com/office/drawing/2014/main" val="3291776343"/>
                    </a:ext>
                  </a:extLst>
                </a:gridCol>
              </a:tblGrid>
              <a:tr h="236601">
                <a:tc gridSpan="2">
                  <a:txBody>
                    <a:bodyPr/>
                    <a:lstStyle/>
                    <a:p>
                      <a:pPr marL="176911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l-GR" sz="1400" dirty="0">
                          <a:effectLst/>
                        </a:rPr>
                        <a:t>Balance Sheet 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30" marR="21908" marT="0" marB="0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 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30" marR="21908" marT="0" marB="0"/>
                </a:tc>
                <a:extLst>
                  <a:ext uri="{0D108BD9-81ED-4DB2-BD59-A6C34878D82A}">
                    <a16:rowId xmlns:a16="http://schemas.microsoft.com/office/drawing/2014/main" val="4162640597"/>
                  </a:ext>
                </a:extLst>
              </a:tr>
              <a:tr h="4732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  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30" marR="21908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2009 Balance (31/12/2009) 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30" marR="2190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2008 Balance (31/12/2008) 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30" marR="21908" marT="0" marB="0"/>
                </a:tc>
                <a:extLst>
                  <a:ext uri="{0D108BD9-81ED-4DB2-BD59-A6C34878D82A}">
                    <a16:rowId xmlns:a16="http://schemas.microsoft.com/office/drawing/2014/main" val="1311854673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Cash 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30" marR="21908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55 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30" marR="21908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30 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30" marR="21908" marT="0" marB="0"/>
                </a:tc>
                <a:extLst>
                  <a:ext uri="{0D108BD9-81ED-4DB2-BD59-A6C34878D82A}">
                    <a16:rowId xmlns:a16="http://schemas.microsoft.com/office/drawing/2014/main" val="99918604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Accounts Receivable  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30" marR="21908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60 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30" marR="21908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80 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30" marR="21908" marT="0" marB="0"/>
                </a:tc>
                <a:extLst>
                  <a:ext uri="{0D108BD9-81ED-4DB2-BD59-A6C34878D82A}">
                    <a16:rowId xmlns:a16="http://schemas.microsoft.com/office/drawing/2014/main" val="4040384157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Inventory 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30" marR="21908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80 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30" marR="21908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74 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30" marR="21908" marT="0" marB="0"/>
                </a:tc>
                <a:extLst>
                  <a:ext uri="{0D108BD9-81ED-4DB2-BD59-A6C34878D82A}">
                    <a16:rowId xmlns:a16="http://schemas.microsoft.com/office/drawing/2014/main" val="2969732718"/>
                  </a:ext>
                </a:extLst>
              </a:tr>
              <a:tr h="41098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Property, Plant &amp; Equipment 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30" marR="21908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690 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30" marR="21908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590 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30" marR="21908" marT="0" marB="0"/>
                </a:tc>
                <a:extLst>
                  <a:ext uri="{0D108BD9-81ED-4DB2-BD59-A6C34878D82A}">
                    <a16:rowId xmlns:a16="http://schemas.microsoft.com/office/drawing/2014/main" val="632781622"/>
                  </a:ext>
                </a:extLst>
              </a:tr>
              <a:tr h="236601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el-GR" sz="1400" dirty="0">
                          <a:effectLst/>
                        </a:rPr>
                        <a:t>less: Accumulated depreciation </a:t>
                      </a:r>
                      <a:endParaRPr lang="fr-FR" sz="11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280"/>
                        </a:spcAft>
                      </a:pPr>
                      <a:r>
                        <a:rPr lang="el-GR" sz="1400" u="sng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Total Assets</a:t>
                      </a:r>
                      <a:r>
                        <a:rPr lang="el-GR" sz="1400" dirty="0">
                          <a:effectLst/>
                        </a:rPr>
                        <a:t> </a:t>
                      </a:r>
                      <a:endParaRPr lang="fr-FR" sz="11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l-GR" sz="1400" dirty="0">
                          <a:effectLst/>
                        </a:rPr>
                        <a:t>  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30" marR="21908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(342) 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30" marR="21908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(320) 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30" marR="21908" marT="0" marB="0"/>
                </a:tc>
                <a:extLst>
                  <a:ext uri="{0D108BD9-81ED-4DB2-BD59-A6C34878D82A}">
                    <a16:rowId xmlns:a16="http://schemas.microsoft.com/office/drawing/2014/main" val="1212995399"/>
                  </a:ext>
                </a:extLst>
              </a:tr>
              <a:tr h="77647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280"/>
                        </a:spcAft>
                      </a:pPr>
                      <a:r>
                        <a:rPr lang="el-GR" sz="1400">
                          <a:effectLst/>
                        </a:rPr>
                        <a:t>543 </a:t>
                      </a:r>
                      <a:endParaRPr lang="fr-FR" sz="11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  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30" marR="21908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280"/>
                        </a:spcAft>
                      </a:pPr>
                      <a:r>
                        <a:rPr lang="el-GR" sz="1400">
                          <a:effectLst/>
                        </a:rPr>
                        <a:t>454 </a:t>
                      </a:r>
                      <a:endParaRPr lang="fr-FR" sz="11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  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30" marR="21908" marT="0" marB="0" anchor="b"/>
                </a:tc>
                <a:extLst>
                  <a:ext uri="{0D108BD9-81ED-4DB2-BD59-A6C34878D82A}">
                    <a16:rowId xmlns:a16="http://schemas.microsoft.com/office/drawing/2014/main" val="3102960485"/>
                  </a:ext>
                </a:extLst>
              </a:tr>
              <a:tr h="2366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Accounts payable 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30" marR="21908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52 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30" marR="21908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40 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30" marR="21908" marT="0" marB="0" anchor="b"/>
                </a:tc>
                <a:extLst>
                  <a:ext uri="{0D108BD9-81ED-4DB2-BD59-A6C34878D82A}">
                    <a16:rowId xmlns:a16="http://schemas.microsoft.com/office/drawing/2014/main" val="940749239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Bonds payable 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30" marR="21908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290 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30" marR="21908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260 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30" marR="21908" marT="0" marB="0"/>
                </a:tc>
                <a:extLst>
                  <a:ext uri="{0D108BD9-81ED-4DB2-BD59-A6C34878D82A}">
                    <a16:rowId xmlns:a16="http://schemas.microsoft.com/office/drawing/2014/main" val="1025416296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Common stock 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30" marR="21908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150 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30" marR="21908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130 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30" marR="21908" marT="0" marB="0"/>
                </a:tc>
                <a:extLst>
                  <a:ext uri="{0D108BD9-81ED-4DB2-BD59-A6C34878D82A}">
                    <a16:rowId xmlns:a16="http://schemas.microsoft.com/office/drawing/2014/main" val="375840357"/>
                  </a:ext>
                </a:extLst>
              </a:tr>
              <a:tr h="236601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95"/>
                        </a:spcAft>
                      </a:pPr>
                      <a:r>
                        <a:rPr lang="en-US" sz="1400">
                          <a:effectLst/>
                        </a:rPr>
                        <a:t>Retained earnings </a:t>
                      </a:r>
                      <a:endParaRPr lang="fr-FR" sz="11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u="sng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Total Liabilities and Owners'</a:t>
                      </a:r>
                      <a:r>
                        <a:rPr lang="en-US" sz="1400">
                          <a:effectLst/>
                        </a:rPr>
                        <a:t> 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30" marR="21908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51 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30" marR="21908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24 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30" marR="21908" marT="0" marB="0"/>
                </a:tc>
                <a:extLst>
                  <a:ext uri="{0D108BD9-81ED-4DB2-BD59-A6C34878D82A}">
                    <a16:rowId xmlns:a16="http://schemas.microsoft.com/office/drawing/2014/main" val="687892799"/>
                  </a:ext>
                </a:extLst>
              </a:tr>
              <a:tr h="45726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 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30" marR="2190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 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30" marR="21908" marT="0" marB="0"/>
                </a:tc>
                <a:extLst>
                  <a:ext uri="{0D108BD9-81ED-4DB2-BD59-A6C34878D82A}">
                    <a16:rowId xmlns:a16="http://schemas.microsoft.com/office/drawing/2014/main" val="1233132239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l-GR" sz="1400" u="sng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</a:rPr>
                        <a:t>Equity</a:t>
                      </a:r>
                      <a:r>
                        <a:rPr lang="el-GR" sz="1400">
                          <a:effectLst/>
                        </a:rPr>
                        <a:t> 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30" marR="21908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543 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30" marR="21908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l-GR" sz="1400" dirty="0">
                          <a:effectLst/>
                        </a:rPr>
                        <a:t>454 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530" marR="21908" marT="0" marB="0"/>
                </a:tc>
                <a:extLst>
                  <a:ext uri="{0D108BD9-81ED-4DB2-BD59-A6C34878D82A}">
                    <a16:rowId xmlns:a16="http://schemas.microsoft.com/office/drawing/2014/main" val="1048653486"/>
                  </a:ext>
                </a:extLst>
              </a:tr>
            </a:tbl>
          </a:graphicData>
        </a:graphic>
      </p:graphicFrame>
      <p:sp>
        <p:nvSpPr>
          <p:cNvPr id="6" name="ZoneTexte 5"/>
          <p:cNvSpPr txBox="1"/>
          <p:nvPr/>
        </p:nvSpPr>
        <p:spPr>
          <a:xfrm>
            <a:off x="457200" y="116632"/>
            <a:ext cx="84352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err="1" smtClean="0"/>
              <a:t>Problem</a:t>
            </a:r>
            <a:r>
              <a:rPr lang="fr-FR" sz="2800" dirty="0" smtClean="0"/>
              <a:t> - </a:t>
            </a:r>
            <a:r>
              <a:rPr lang="fr-FR" sz="2800" dirty="0" err="1" smtClean="0"/>
              <a:t>Calculate</a:t>
            </a:r>
            <a:r>
              <a:rPr lang="fr-FR" sz="2800" dirty="0" smtClean="0"/>
              <a:t> the Cash flow </a:t>
            </a:r>
            <a:r>
              <a:rPr lang="fr-FR" sz="2800" dirty="0" err="1" smtClean="0"/>
              <a:t>statement</a:t>
            </a:r>
            <a:r>
              <a:rPr lang="fr-FR" sz="2800" dirty="0" smtClean="0"/>
              <a:t>– </a:t>
            </a:r>
            <a:r>
              <a:rPr lang="fr-FR" sz="2800" dirty="0" err="1" smtClean="0"/>
              <a:t>using</a:t>
            </a:r>
            <a:r>
              <a:rPr lang="fr-FR" sz="2800" dirty="0" smtClean="0"/>
              <a:t> indirect </a:t>
            </a:r>
            <a:r>
              <a:rPr lang="fr-FR" sz="2800" dirty="0" err="1" smtClean="0"/>
              <a:t>method</a:t>
            </a:r>
            <a:endParaRPr lang="fr-FR" sz="2800" dirty="0"/>
          </a:p>
        </p:txBody>
      </p:sp>
      <p:sp>
        <p:nvSpPr>
          <p:cNvPr id="5" name="ZoneTexte 4"/>
          <p:cNvSpPr txBox="1"/>
          <p:nvPr/>
        </p:nvSpPr>
        <p:spPr>
          <a:xfrm>
            <a:off x="611560" y="1844824"/>
            <a:ext cx="1979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P&amp;L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01918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659F6F-5EC2-453E-ADDF-F4CFF454119B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  <p:sp>
        <p:nvSpPr>
          <p:cNvPr id="3" name="Rectangle 2"/>
          <p:cNvSpPr/>
          <p:nvPr/>
        </p:nvSpPr>
        <p:spPr>
          <a:xfrm>
            <a:off x="1038498" y="1528095"/>
            <a:ext cx="5819503" cy="36702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750"/>
              </a:spcAft>
              <a:tabLst>
                <a:tab pos="1556385" algn="l"/>
              </a:tabLst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Solution - Using the indirect method</a:t>
            </a:r>
            <a:endParaRPr lang="fr-FR" sz="15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750"/>
              </a:spcAft>
              <a:tabLst>
                <a:tab pos="1556385" algn="l"/>
              </a:tabLst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 </a:t>
            </a:r>
            <a:endParaRPr lang="fr-FR" sz="15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750"/>
              </a:spcAft>
              <a:tabLst>
                <a:tab pos="1556385" algn="l"/>
              </a:tabLst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Statement of Cash Flows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fr-FR" sz="15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750"/>
              </a:spcAft>
              <a:tabLst>
                <a:tab pos="1556385" algn="l"/>
              </a:tabLst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Net income                                                                           	 </a:t>
            </a:r>
            <a:r>
              <a:rPr lang="en-US" sz="15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146</a:t>
            </a:r>
            <a:endParaRPr lang="fr-FR" sz="15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750"/>
              </a:spcAft>
              <a:tabLst>
                <a:tab pos="1556385" algn="l"/>
              </a:tabLst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+Depreciation                                                                                 22</a:t>
            </a:r>
            <a:endParaRPr lang="fr-FR" sz="15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750"/>
              </a:spcAft>
              <a:tabLst>
                <a:tab pos="1556385" algn="l"/>
              </a:tabLst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+Decrease in A/R                                                                           20</a:t>
            </a:r>
            <a:endParaRPr lang="fr-FR" sz="15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750"/>
              </a:spcAft>
              <a:tabLst>
                <a:tab pos="1556385" algn="l"/>
              </a:tabLst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-Increase in inventory                                                                     6</a:t>
            </a:r>
            <a:endParaRPr lang="fr-FR" sz="15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750"/>
              </a:spcAft>
              <a:tabLst>
                <a:tab pos="1556385" algn="l"/>
              </a:tabLst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+Increase in A/P                                                                             12</a:t>
            </a:r>
            <a:endParaRPr lang="fr-FR" sz="15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750"/>
              </a:spcAft>
              <a:tabLst>
                <a:tab pos="1556385" algn="l"/>
              </a:tabLst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Cash from operating activities                                                    194</a:t>
            </a:r>
          </a:p>
          <a:p>
            <a:pPr>
              <a:lnSpc>
                <a:spcPct val="115000"/>
              </a:lnSpc>
              <a:spcAft>
                <a:spcPts val="750"/>
              </a:spcAft>
              <a:tabLst>
                <a:tab pos="1556385" algn="l"/>
              </a:tabLst>
            </a:pPr>
            <a:endParaRPr lang="en-US" sz="15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4200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659F6F-5EC2-453E-ADDF-F4CFF454119B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p:sp>
        <p:nvSpPr>
          <p:cNvPr id="3" name="ZoneTexte 2"/>
          <p:cNvSpPr txBox="1"/>
          <p:nvPr/>
        </p:nvSpPr>
        <p:spPr>
          <a:xfrm>
            <a:off x="898525" y="1707773"/>
            <a:ext cx="685101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 smtClean="0"/>
              <a:t>Investment Cash Flow</a:t>
            </a:r>
            <a:endParaRPr lang="fr-FR" u="sng" dirty="0"/>
          </a:p>
          <a:p>
            <a:r>
              <a:rPr lang="fr-FR" dirty="0" err="1" smtClean="0"/>
              <a:t>Increase</a:t>
            </a:r>
            <a:r>
              <a:rPr lang="fr-FR" dirty="0" smtClean="0"/>
              <a:t> in </a:t>
            </a:r>
            <a:r>
              <a:rPr lang="fr-FR" dirty="0" err="1" smtClean="0"/>
              <a:t>equipment</a:t>
            </a:r>
            <a:r>
              <a:rPr lang="fr-FR" dirty="0" smtClean="0"/>
              <a:t>………...-100 cash</a:t>
            </a:r>
          </a:p>
          <a:p>
            <a:endParaRPr lang="fr-FR" dirty="0" smtClean="0"/>
          </a:p>
          <a:p>
            <a:r>
              <a:rPr lang="fr-FR" u="sng" dirty="0" err="1" smtClean="0"/>
              <a:t>Financing</a:t>
            </a:r>
            <a:r>
              <a:rPr lang="fr-FR" u="sng" dirty="0" smtClean="0"/>
              <a:t> Cash Flow</a:t>
            </a:r>
            <a:endParaRPr lang="fr-FR" u="sng" dirty="0"/>
          </a:p>
          <a:p>
            <a:r>
              <a:rPr lang="fr-FR" dirty="0" err="1" smtClean="0"/>
              <a:t>Increase</a:t>
            </a:r>
            <a:r>
              <a:rPr lang="fr-FR" dirty="0" smtClean="0"/>
              <a:t> in bonds payable……+30 cash</a:t>
            </a:r>
          </a:p>
          <a:p>
            <a:r>
              <a:rPr lang="fr-FR" dirty="0" err="1" smtClean="0"/>
              <a:t>Increase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common</a:t>
            </a:r>
            <a:r>
              <a:rPr lang="fr-FR" dirty="0" smtClean="0"/>
              <a:t> stock...…+20 cash</a:t>
            </a:r>
          </a:p>
          <a:p>
            <a:r>
              <a:rPr lang="fr-FR" dirty="0" err="1" smtClean="0"/>
              <a:t>Dividend</a:t>
            </a:r>
            <a:r>
              <a:rPr lang="fr-FR" dirty="0" smtClean="0"/>
              <a:t> </a:t>
            </a:r>
            <a:r>
              <a:rPr lang="fr-FR" dirty="0" err="1" smtClean="0"/>
              <a:t>paid</a:t>
            </a:r>
            <a:r>
              <a:rPr lang="fr-FR" dirty="0" smtClean="0"/>
              <a:t>…………………146+24-51= -119 cash</a:t>
            </a:r>
          </a:p>
          <a:p>
            <a:r>
              <a:rPr lang="fr-FR" dirty="0" smtClean="0"/>
              <a:t>Total = -69</a:t>
            </a:r>
          </a:p>
          <a:p>
            <a:endParaRPr lang="fr-FR" dirty="0"/>
          </a:p>
          <a:p>
            <a:r>
              <a:rPr lang="fr-FR" dirty="0" smtClean="0"/>
              <a:t>Total Cash flow = 194 -100 -69 = + 25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05348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Modèle par défaut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èle par défa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10471</TotalTime>
  <Words>889</Words>
  <Application>Microsoft Office PowerPoint</Application>
  <PresentationFormat>Affichage à l'écran (4:3)</PresentationFormat>
  <Paragraphs>198</Paragraphs>
  <Slides>18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18</vt:i4>
      </vt:variant>
    </vt:vector>
  </HeadingPairs>
  <TitlesOfParts>
    <vt:vector size="25" baseType="lpstr">
      <vt:lpstr>Arial</vt:lpstr>
      <vt:lpstr>Calibri</vt:lpstr>
      <vt:lpstr>HelveticaNeueLT Std Med</vt:lpstr>
      <vt:lpstr>Times New Roman</vt:lpstr>
      <vt:lpstr>Wingdings</vt:lpstr>
      <vt:lpstr>Modèle par défaut</vt:lpstr>
      <vt:lpstr>1_Conception personnalisée</vt:lpstr>
      <vt:lpstr>Présentation PowerPoint</vt:lpstr>
      <vt:lpstr> STRUCTURE OF CASH FLOW STATEMENT</vt:lpstr>
      <vt:lpstr> Structure of Cash Flow Statement</vt:lpstr>
      <vt:lpstr>Content of the Cash Flow Statement </vt:lpstr>
      <vt:lpstr>Classification of cash flows</vt:lpstr>
      <vt:lpstr>Cash and cash equivalents </vt:lpstr>
      <vt:lpstr> CALCULATION OF CASH FLOWS FROM OPERATING ACTIVITIES </vt:lpstr>
      <vt:lpstr>3. Calculation of cash flows from operating activities</vt:lpstr>
      <vt:lpstr>The direct method</vt:lpstr>
      <vt:lpstr>Integral direct method</vt:lpstr>
      <vt:lpstr>Integral semi direct method</vt:lpstr>
      <vt:lpstr> The indirect method</vt:lpstr>
      <vt:lpstr>The indirect method</vt:lpstr>
      <vt:lpstr> CASH FLOWS FROM INVESTING ACTIVITIES </vt:lpstr>
      <vt:lpstr>CASH FLOWS FROM FINANCING  ACTIVITIES 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MENOU Sebastian</dc:creator>
  <cp:lastModifiedBy>SAMBROOK Tim</cp:lastModifiedBy>
  <cp:revision>680</cp:revision>
  <cp:lastPrinted>2018-04-26T19:07:18Z</cp:lastPrinted>
  <dcterms:created xsi:type="dcterms:W3CDTF">2009-10-01T09:23:09Z</dcterms:created>
  <dcterms:modified xsi:type="dcterms:W3CDTF">2020-04-27T14:18:11Z</dcterms:modified>
</cp:coreProperties>
</file>